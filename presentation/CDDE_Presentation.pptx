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F6A"/>
    <a:srgbClr val="E86F33"/>
    <a:srgbClr val="1A2B42"/>
    <a:srgbClr val="F0F1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6346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12" Type="http://schemas.microsoft.com/office/2007/relationships/hdphoto" Target="../media/hdphoto5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0.png"/><Relationship Id="rId14" Type="http://schemas.microsoft.com/office/2007/relationships/hdphoto" Target="../media/hdphoto6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8.wdp"/><Relationship Id="rId5" Type="http://schemas.openxmlformats.org/officeDocument/2006/relationships/image" Target="../media/image16.png"/><Relationship Id="rId4" Type="http://schemas.microsoft.com/office/2007/relationships/hdphoto" Target="../media/hdphoto7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1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1.wdp"/><Relationship Id="rId5" Type="http://schemas.openxmlformats.org/officeDocument/2006/relationships/image" Target="../media/image19.png"/><Relationship Id="rId4" Type="http://schemas.microsoft.com/office/2007/relationships/hdphoto" Target="../media/hdphoto10.wdp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6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1097280"/>
            <a:ext cx="548640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0" y="1097280"/>
            <a:ext cx="548640" cy="5486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31520" y="18288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Data</a:t>
            </a:r>
            <a:endParaRPr lang="en-US" sz="4200" dirty="0">
              <a:solidFill>
                <a:srgbClr val="1A2B42"/>
              </a:solidFill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Derivation Engine</a:t>
            </a:r>
            <a:endParaRPr lang="en-US" sz="4200" dirty="0">
              <a:solidFill>
                <a:srgbClr val="1A2B42"/>
              </a:solidFill>
            </a:endParaRPr>
          </a:p>
        </p:txBody>
      </p:sp>
      <p:sp>
        <p:nvSpPr>
          <p:cNvPr id="7" name="Text 2"/>
          <p:cNvSpPr/>
          <p:nvPr/>
        </p:nvSpPr>
        <p:spPr>
          <a:xfrm>
            <a:off x="731520" y="3246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SDTM-to-ADaM transformation</a:t>
            </a:r>
            <a:endParaRPr lang="en-US" sz="1600" dirty="0">
              <a:solidFill>
                <a:srgbClr val="1A2B42"/>
              </a:solidFill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regulatory-grade verification and full audit traceability</a:t>
            </a:r>
            <a:endParaRPr lang="en-US" sz="1600" dirty="0">
              <a:solidFill>
                <a:srgbClr val="1A2B42"/>
              </a:solidFill>
            </a:endParaRPr>
          </a:p>
        </p:txBody>
      </p:sp>
      <p:sp>
        <p:nvSpPr>
          <p:cNvPr id="8" name="Shape 3"/>
          <p:cNvSpPr/>
          <p:nvPr/>
        </p:nvSpPr>
        <p:spPr>
          <a:xfrm>
            <a:off x="731520" y="4206240"/>
            <a:ext cx="4114800" cy="36576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4"/>
          <p:cNvSpPr/>
          <p:nvPr/>
        </p:nvSpPr>
        <p:spPr>
          <a:xfrm>
            <a:off x="73152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Matthieu Boujonnier  |  AI/ML Lead Candidate  |  April 2026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6858000" y="457200"/>
            <a:ext cx="2011680" cy="914400"/>
          </a:xfrm>
          <a:prstGeom prst="rect">
            <a:avLst/>
          </a:prstGeom>
          <a:solidFill>
            <a:srgbClr val="F0F1F3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6"/>
          <p:cNvSpPr/>
          <p:nvPr/>
        </p:nvSpPr>
        <p:spPr>
          <a:xfrm>
            <a:off x="6858000" y="4754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CDDE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685800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Prototype</a:t>
            </a:r>
            <a:endParaRPr lang="en-US" sz="1000" dirty="0">
              <a:solidFill>
                <a:srgbClr val="1A2B4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164592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CRF/EDC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514600" y="1051560"/>
            <a:ext cx="1645920" cy="502920"/>
          </a:xfrm>
          <a:prstGeom prst="rect">
            <a:avLst/>
          </a:prstGeom>
          <a:solidFill>
            <a:srgbClr val="1A2B4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251460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SDTM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46666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80560" y="1051560"/>
            <a:ext cx="1645920" cy="502920"/>
          </a:xfrm>
          <a:prstGeom prst="rect">
            <a:avLst/>
          </a:prstGeom>
          <a:solidFill>
            <a:srgbClr val="E86F33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448056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40334" y="10515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46520" y="1051560"/>
            <a:ext cx="164592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6446520" y="1051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89120" y="777240"/>
            <a:ext cx="1828800" cy="228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4389120" y="777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54864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18872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7724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SAS/R programmers manually implement derivation specs. Every variable requires double programming (ICH E6).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Error-prone, slow, expensive.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38328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Shape 20"/>
          <p:cNvSpPr/>
          <p:nvPr/>
        </p:nvSpPr>
        <p:spPr>
          <a:xfrm>
            <a:off x="338328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286000"/>
            <a:ext cx="320040" cy="320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02336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361188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derivation can change the outcome of a drug approval decision.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217920" y="2103120"/>
            <a:ext cx="26060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8" name="Shape 24"/>
          <p:cNvSpPr/>
          <p:nvPr/>
        </p:nvSpPr>
        <p:spPr>
          <a:xfrm>
            <a:off x="6217920" y="2103120"/>
            <a:ext cx="54864" cy="25603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286000"/>
            <a:ext cx="320040" cy="3200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85800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446520" y="278892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generate derivation code — but the regulated environment demands verification, traceability, and human oversight.</a:t>
            </a:r>
            <a:endParaRPr lang="en-US" sz="1200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04ACFB2-A47B-5DFF-0845-4FB8660149ED}"/>
              </a:ext>
            </a:extLst>
          </p:cNvPr>
          <p:cNvSpPr/>
          <p:nvPr/>
        </p:nvSpPr>
        <p:spPr>
          <a:xfrm>
            <a:off x="4414520" y="698500"/>
            <a:ext cx="1767586" cy="1104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0F1B2D"/>
                </a:solidFill>
                <a:latin typeface="Georgia" pitchFamily="34" charset="0"/>
              </a:rPr>
              <a:t>Solution Overview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 with 5 specialized agents mirroring the real pharma workflow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4"/>
          <p:cNvSpPr/>
          <p:nvPr/>
        </p:nvSpPr>
        <p:spPr>
          <a:xfrm>
            <a:off x="914400" y="1691640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0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4400" y="228600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spec,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ambiguities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1920240" y="224028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084832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Shape 10"/>
          <p:cNvSpPr/>
          <p:nvPr/>
        </p:nvSpPr>
        <p:spPr>
          <a:xfrm>
            <a:off x="2633472" y="1691640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263347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33472" y="228600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76272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2176272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code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(primary programmer)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8" name="Text 14"/>
          <p:cNvSpPr/>
          <p:nvPr/>
        </p:nvSpPr>
        <p:spPr>
          <a:xfrm>
            <a:off x="3639312" y="224028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803904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6"/>
          <p:cNvSpPr/>
          <p:nvPr/>
        </p:nvSpPr>
        <p:spPr>
          <a:xfrm>
            <a:off x="4352544" y="1691640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7"/>
          <p:cNvSpPr/>
          <p:nvPr/>
        </p:nvSpPr>
        <p:spPr>
          <a:xfrm>
            <a:off x="43525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52544" y="228600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895344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3895344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QC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(isolated context)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Text 20"/>
          <p:cNvSpPr/>
          <p:nvPr/>
        </p:nvSpPr>
        <p:spPr>
          <a:xfrm>
            <a:off x="5358384" y="224028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5522976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Shape 22"/>
          <p:cNvSpPr/>
          <p:nvPr/>
        </p:nvSpPr>
        <p:spPr>
          <a:xfrm>
            <a:off x="6071616" y="1691640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Text 23"/>
          <p:cNvSpPr/>
          <p:nvPr/>
        </p:nvSpPr>
        <p:spPr>
          <a:xfrm>
            <a:off x="607161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71616" y="2286000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614416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561441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32" name="Text 26"/>
          <p:cNvSpPr/>
          <p:nvPr/>
        </p:nvSpPr>
        <p:spPr>
          <a:xfrm>
            <a:off x="7077456" y="224028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42048" y="1508760"/>
            <a:ext cx="1554480" cy="210312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4" name="Shape 28"/>
          <p:cNvSpPr/>
          <p:nvPr/>
        </p:nvSpPr>
        <p:spPr>
          <a:xfrm>
            <a:off x="7790688" y="1691640"/>
            <a:ext cx="457200" cy="45720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5" name="Text 29"/>
          <p:cNvSpPr/>
          <p:nvPr/>
        </p:nvSpPr>
        <p:spPr>
          <a:xfrm>
            <a:off x="779068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790688" y="2286000"/>
            <a:ext cx="457200" cy="45720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333488" y="2788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</a:t>
            </a:r>
            <a:endParaRPr lang="en-US" sz="1500" dirty="0"/>
          </a:p>
        </p:txBody>
      </p:sp>
      <p:sp>
        <p:nvSpPr>
          <p:cNvPr id="38" name="Text 31"/>
          <p:cNvSpPr/>
          <p:nvPr/>
        </p:nvSpPr>
        <p:spPr>
          <a:xfrm>
            <a:off x="7333488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39" name="Shape 32"/>
          <p:cNvSpPr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1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4083210"/>
            <a:ext cx="320040" cy="32004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18872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real data: CDISC Pilot Study (cdiscpilot01) — Alzheimer's trial, 7 ADSL derivations</a:t>
            </a:r>
            <a:endParaRPr lang="en-US" sz="13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F800DF59-298D-B2D3-EFBC-E00AD3D19AB4}"/>
              </a:ext>
            </a:extLst>
          </p:cNvPr>
          <p:cNvSpPr/>
          <p:nvPr/>
        </p:nvSpPr>
        <p:spPr>
          <a:xfrm>
            <a:off x="365760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77AE3592-D154-0C65-93EF-A0167EAF3CBD}"/>
              </a:ext>
            </a:extLst>
          </p:cNvPr>
          <p:cNvSpPr/>
          <p:nvPr/>
        </p:nvSpPr>
        <p:spPr>
          <a:xfrm>
            <a:off x="2061972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1EAEE6AA-F4E6-504C-4E6C-0A6072C962F6}"/>
              </a:ext>
            </a:extLst>
          </p:cNvPr>
          <p:cNvSpPr/>
          <p:nvPr/>
        </p:nvSpPr>
        <p:spPr>
          <a:xfrm>
            <a:off x="3793236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4885C61D-82FA-B574-EB21-7EFCB8D975B8}"/>
              </a:ext>
            </a:extLst>
          </p:cNvPr>
          <p:cNvSpPr/>
          <p:nvPr/>
        </p:nvSpPr>
        <p:spPr>
          <a:xfrm>
            <a:off x="5524247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7" name="Shape 20">
            <a:extLst>
              <a:ext uri="{FF2B5EF4-FFF2-40B4-BE49-F238E27FC236}">
                <a16:creationId xmlns:a16="http://schemas.microsoft.com/office/drawing/2014/main" id="{B398A512-BFD9-E25F-AD20-3528E9A6C429}"/>
              </a:ext>
            </a:extLst>
          </p:cNvPr>
          <p:cNvSpPr/>
          <p:nvPr/>
        </p:nvSpPr>
        <p:spPr>
          <a:xfrm>
            <a:off x="7235952" y="1508760"/>
            <a:ext cx="45719" cy="21031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4572000" cy="5029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051560" y="1005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viz, code review, HITL approval gates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914400" y="1618488"/>
            <a:ext cx="4572000" cy="502920"/>
          </a:xfrm>
          <a:prstGeom prst="rect">
            <a:avLst/>
          </a:prstGeom>
          <a:solidFill>
            <a:srgbClr val="1A2B42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1051560" y="1618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FastMCP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1618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MCP transports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20756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14400" y="2231136"/>
            <a:ext cx="4572000" cy="50292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1051560" y="223113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08960" y="22311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PipelineInterpreter + PipelineFSM + DAG executor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26883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4400" y="2843784"/>
            <a:ext cx="4572000" cy="502920"/>
          </a:xfrm>
          <a:prstGeom prst="rect">
            <a:avLst/>
          </a:prstGeom>
          <a:solidFill>
            <a:srgbClr val="243750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Agents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08960" y="28437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agents, typed I/O, async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17520" y="33009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14400" y="3456432"/>
            <a:ext cx="4572000" cy="502920"/>
          </a:xfrm>
          <a:prstGeom prst="rect">
            <a:avLst/>
          </a:prstGeom>
          <a:solidFill>
            <a:srgbClr val="C45A25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1051560" y="34564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AgentLens Proxy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108960" y="3456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+ guards + circuit breaker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7520" y="391363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>
              <a:solidFill>
                <a:srgbClr val="E86F33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14400" y="4069080"/>
            <a:ext cx="4572000" cy="502920"/>
          </a:xfrm>
          <a:prstGeom prst="rect">
            <a:avLst/>
          </a:prstGeom>
          <a:solidFill>
            <a:srgbClr val="0F1B2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1051560" y="4069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10896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Azure OpenAI / any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1005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035040" y="1508760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626364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1892808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263640" y="1847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import-linter contracts enforce boundaries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2276856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6263640" y="2231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circular imports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35040" y="2660904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5" name="Text 33"/>
          <p:cNvSpPr/>
          <p:nvPr/>
        </p:nvSpPr>
        <p:spPr>
          <a:xfrm>
            <a:off x="6263640" y="2615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is pure Python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35040" y="3044952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5"/>
          <p:cNvSpPr/>
          <p:nvPr/>
        </p:nvSpPr>
        <p:spPr>
          <a:xfrm>
            <a:off x="6263640" y="29992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depend on domain only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35040" y="3429000"/>
            <a:ext cx="137160" cy="1371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626364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Framework-swappable design</a:t>
            </a:r>
            <a:endParaRPr lang="en-US" sz="110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8CD8728-7438-4599-5826-E3AD154E5729}"/>
              </a:ext>
            </a:extLst>
          </p:cNvPr>
          <p:cNvCxnSpPr/>
          <p:nvPr/>
        </p:nvCxnSpPr>
        <p:spPr>
          <a:xfrm>
            <a:off x="235527" y="1563072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9A625A-A377-4A1B-437F-21AF1341200F}"/>
              </a:ext>
            </a:extLst>
          </p:cNvPr>
          <p:cNvCxnSpPr/>
          <p:nvPr/>
        </p:nvCxnSpPr>
        <p:spPr>
          <a:xfrm>
            <a:off x="227213" y="3394365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84D5239-C149-7AE3-C669-E481D19EC221}"/>
              </a:ext>
            </a:extLst>
          </p:cNvPr>
          <p:cNvCxnSpPr/>
          <p:nvPr/>
        </p:nvCxnSpPr>
        <p:spPr>
          <a:xfrm>
            <a:off x="227215" y="4003964"/>
            <a:ext cx="5250873" cy="0"/>
          </a:xfrm>
          <a:prstGeom prst="line">
            <a:avLst/>
          </a:prstGeom>
          <a:ln w="1270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 27">
            <a:extLst>
              <a:ext uri="{FF2B5EF4-FFF2-40B4-BE49-F238E27FC236}">
                <a16:creationId xmlns:a16="http://schemas.microsoft.com/office/drawing/2014/main" id="{B6C24880-7F56-43BE-7616-7219FC38ACE6}"/>
              </a:ext>
            </a:extLst>
          </p:cNvPr>
          <p:cNvSpPr/>
          <p:nvPr/>
        </p:nvSpPr>
        <p:spPr>
          <a:xfrm rot="16200000">
            <a:off x="-83820" y="2308860"/>
            <a:ext cx="126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3F9EA2D-B955-BD00-DA69-A79F35D41160}"/>
              </a:ext>
            </a:extLst>
          </p:cNvPr>
          <p:cNvSpPr/>
          <p:nvPr/>
        </p:nvSpPr>
        <p:spPr>
          <a:xfrm rot="16200000">
            <a:off x="260050" y="3571284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100" dirty="0"/>
          </a:p>
        </p:txBody>
      </p:sp>
      <p:sp>
        <p:nvSpPr>
          <p:cNvPr id="46" name="Text 27">
            <a:extLst>
              <a:ext uri="{FF2B5EF4-FFF2-40B4-BE49-F238E27FC236}">
                <a16:creationId xmlns:a16="http://schemas.microsoft.com/office/drawing/2014/main" id="{C1DD2E82-DA33-F375-52D0-A7A0FB57CF91}"/>
              </a:ext>
            </a:extLst>
          </p:cNvPr>
          <p:cNvSpPr/>
          <p:nvPr/>
        </p:nvSpPr>
        <p:spPr>
          <a:xfrm rot="16200000">
            <a:off x="260050" y="4146250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BCEEC748-9349-D31C-7CDC-EBCFED47C65E}"/>
              </a:ext>
            </a:extLst>
          </p:cNvPr>
          <p:cNvSpPr/>
          <p:nvPr/>
        </p:nvSpPr>
        <p:spPr>
          <a:xfrm rot="16200000">
            <a:off x="260050" y="1088412"/>
            <a:ext cx="577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Roles</a:t>
            </a:r>
            <a:endParaRPr lang="en-US" sz="3600" dirty="0">
              <a:solidFill>
                <a:srgbClr val="1A2B42"/>
              </a:solidFill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959637"/>
              </p:ext>
            </p:extLst>
          </p:nvPr>
        </p:nvGraphicFramePr>
        <p:xfrm>
          <a:off x="548640" y="1005840"/>
          <a:ext cx="8046720" cy="24688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Separate?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Interpreter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SpecInterpretation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understanding ≠ code generation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 Coder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DerivationCode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programmer (regulatory role)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Programmer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DerivationCode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NOT see primary code (ICH E6)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DebugAnalysis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 ≠ generation (no self-grading)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86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AuditSummary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2B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review is independent</a:t>
                      </a:r>
                      <a:endParaRPr lang="en-US" sz="1100" dirty="0">
                        <a:solidFill>
                          <a:srgbClr val="1A2B4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4" name="Text 3"/>
          <p:cNvSpPr/>
          <p:nvPr/>
        </p:nvSpPr>
        <p:spPr>
          <a:xfrm>
            <a:off x="777240" y="384048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produce validated Pydantic output types
</a:t>
            </a:r>
            <a:endParaRPr lang="en-US" sz="1200" dirty="0">
              <a:solidFill>
                <a:srgbClr val="1A2B42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retries automatically on malformed LLM responses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7" name="Shape 17">
            <a:extLst>
              <a:ext uri="{FF2B5EF4-FFF2-40B4-BE49-F238E27FC236}">
                <a16:creationId xmlns:a16="http://schemas.microsoft.com/office/drawing/2014/main" id="{12568B8D-7911-6D51-88F6-CC6B73761D9E}"/>
              </a:ext>
            </a:extLst>
          </p:cNvPr>
          <p:cNvSpPr/>
          <p:nvPr/>
        </p:nvSpPr>
        <p:spPr>
          <a:xfrm>
            <a:off x="548640" y="3840480"/>
            <a:ext cx="45719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Orchestration: 5 Patterns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051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840480" y="1051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DAG → Derive → Audit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52704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/ Fan-in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variables in parallel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07568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5486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+ Compare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+ QC on same variable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62432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4864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 Escalation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mismatch → Debugger → human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172968"/>
            <a:ext cx="804672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Shape 22"/>
          <p:cNvSpPr/>
          <p:nvPr/>
        </p:nvSpPr>
        <p:spPr>
          <a:xfrm>
            <a:off x="548640" y="3291840"/>
            <a:ext cx="365760" cy="36576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5486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97280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4048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approval points in workflow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777240" y="397764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 orchestration?  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PydanticAI provides agent abstractions. But which agents run in parallel, when to pause for human review, and how to handle QC failures — that is domain logic. asyncio.gather for parallelism. python-statemachine for the FSM.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30" name="Shape 17">
            <a:extLst>
              <a:ext uri="{FF2B5EF4-FFF2-40B4-BE49-F238E27FC236}">
                <a16:creationId xmlns:a16="http://schemas.microsoft.com/office/drawing/2014/main" id="{77FA43DA-2F96-5236-3F8C-6B472C8DE11C}"/>
              </a:ext>
            </a:extLst>
          </p:cNvPr>
          <p:cNvSpPr/>
          <p:nvPr/>
        </p:nvSpPr>
        <p:spPr>
          <a:xfrm>
            <a:off x="548640" y="3931920"/>
            <a:ext cx="45719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DAG: Enhanced Dependency Graph</a:t>
            </a:r>
            <a:endParaRPr lang="en-US" sz="3200" dirty="0">
              <a:solidFill>
                <a:srgbClr val="1A2B42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 simultaneously:</a:t>
            </a:r>
            <a:endParaRPr lang="en-US" sz="1300" dirty="0">
              <a:solidFill>
                <a:srgbClr val="1A2B42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30"/>
          <p:cNvSpPr/>
          <p:nvPr/>
        </p:nvSpPr>
        <p:spPr>
          <a:xfrm>
            <a:off x="54864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440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engine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sort → correct computation order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4904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74904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derivation traceable to source, logic, agent, approval</a:t>
            </a:r>
            <a:endParaRPr lang="en-US" sz="1000" dirty="0">
              <a:solidFill>
                <a:srgbClr val="1A2B42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17920" y="4114800"/>
            <a:ext cx="274320" cy="27432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0" name="Text 38"/>
          <p:cNvSpPr/>
          <p:nvPr/>
        </p:nvSpPr>
        <p:spPr>
          <a:xfrm>
            <a:off x="621792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0" y="4069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tool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83680" y="4297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QC fails, the graph shows exactly where</a:t>
            </a:r>
            <a:endParaRPr lang="en-US" sz="1000" dirty="0">
              <a:solidFill>
                <a:srgbClr val="1A2B42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012D8E-1F92-595A-D489-AA43ED59DBC7}"/>
              </a:ext>
            </a:extLst>
          </p:cNvPr>
          <p:cNvGrpSpPr/>
          <p:nvPr/>
        </p:nvGrpSpPr>
        <p:grpSpPr>
          <a:xfrm>
            <a:off x="498736" y="1366709"/>
            <a:ext cx="8146527" cy="1970851"/>
            <a:chOff x="822960" y="1577021"/>
            <a:chExt cx="6239108" cy="1509398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5A5B1A76-BA52-9137-366B-AB3EEF33C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" y="1577021"/>
              <a:ext cx="6239108" cy="1509398"/>
            </a:xfrm>
            <a:prstGeom prst="rect">
              <a:avLst/>
            </a:prstGeom>
            <a:ln>
              <a:solidFill>
                <a:schemeClr val="accent3"/>
              </a:solidFill>
            </a:ln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DDC4689-329C-631B-3FA9-4DD9A76A2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27751" y="2729162"/>
              <a:ext cx="928868" cy="35725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4302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Programming: Regulatory Pattern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0" y="1005840"/>
            <a:ext cx="3657600" cy="457200"/>
          </a:xfrm>
          <a:prstGeom prst="rect">
            <a:avLst/>
          </a:prstGeom>
          <a:solidFill>
            <a:srgbClr val="3A4F6A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Rule (from spec)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0" y="1810512"/>
            <a:ext cx="1752600" cy="45720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274320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8200" y="1810512"/>
            <a:ext cx="1752600" cy="45720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4572000" y="1810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2267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(primary)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0" y="2267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(isolated context)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0" y="1463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0" y="2743200"/>
            <a:ext cx="3657600" cy="457200"/>
          </a:xfrm>
          <a:prstGeom prst="rect">
            <a:avLst/>
          </a:prstGeom>
          <a:solidFill>
            <a:srgbClr val="E86F33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27432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Comparison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4090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24090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914400" y="3566160"/>
            <a:ext cx="54864" cy="594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10515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Shape 21"/>
          <p:cNvSpPr/>
          <p:nvPr/>
        </p:nvSpPr>
        <p:spPr>
          <a:xfrm>
            <a:off x="3657600" y="3566160"/>
            <a:ext cx="54864" cy="5943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37947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7947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Debugger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3566160"/>
            <a:ext cx="18288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7" name="Shape 25"/>
          <p:cNvSpPr/>
          <p:nvPr/>
        </p:nvSpPr>
        <p:spPr>
          <a:xfrm>
            <a:off x="6400800" y="3566160"/>
            <a:ext cx="54864" cy="594360"/>
          </a:xfrm>
          <a:prstGeom prst="rect">
            <a:avLst/>
          </a:prstGeom>
          <a:solidFill>
            <a:srgbClr val="C45A25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Text 26"/>
          <p:cNvSpPr/>
          <p:nvPr/>
        </p:nvSpPr>
        <p:spPr>
          <a:xfrm>
            <a:off x="6537960" y="3584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SIMILAR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37960" y="38404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 AST → re-run QC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use asyncio.gather — true parallel execution, isolated contexts.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Security: Dual-Dataset Architecture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(prompts)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3152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synthetic reference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(10-20 fake rows)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73152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data shape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8328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66160" y="12344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(local)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56616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5" name="Text 11"/>
          <p:cNvSpPr/>
          <p:nvPr/>
        </p:nvSpPr>
        <p:spPr>
          <a:xfrm>
            <a:off x="356616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SDTM data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6" name="Text 12"/>
          <p:cNvSpPr/>
          <p:nvPr/>
        </p:nvSpPr>
        <p:spPr>
          <a:xfrm>
            <a:off x="356616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17" name="Text 13"/>
          <p:cNvSpPr/>
          <p:nvPr/>
        </p:nvSpPr>
        <p:spPr>
          <a:xfrm>
            <a:off x="356616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code,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aggregates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217920" y="1051560"/>
            <a:ext cx="2606040" cy="23774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00800" y="12344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1234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(results)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400800" y="16916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22" name="Text 17"/>
          <p:cNvSpPr/>
          <p:nvPr/>
        </p:nvSpPr>
        <p:spPr>
          <a:xfrm>
            <a:off x="6400800" y="19202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"5 nulls in AGE"</a:t>
            </a:r>
            <a:endParaRPr lang="en-US" sz="1100" dirty="0">
              <a:solidFill>
                <a:srgbClr val="1A2B4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"QC: 3 rows diverge"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3" name="Text 18"/>
          <p:cNvSpPr/>
          <p:nvPr/>
        </p:nvSpPr>
        <p:spPr>
          <a:xfrm>
            <a:off x="640080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</a:t>
            </a:r>
            <a:endParaRPr lang="en-US" sz="1000" dirty="0">
              <a:solidFill>
                <a:srgbClr val="E86F33"/>
              </a:solidFill>
            </a:endParaRPr>
          </a:p>
        </p:txBody>
      </p:sp>
      <p:sp>
        <p:nvSpPr>
          <p:cNvPr id="24" name="Text 19"/>
          <p:cNvSpPr/>
          <p:nvPr/>
        </p:nvSpPr>
        <p:spPr>
          <a:xfrm>
            <a:off x="6400800" y="2788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raw patient rows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1"/>
          <p:cNvSpPr/>
          <p:nvPr/>
        </p:nvSpPr>
        <p:spPr>
          <a:xfrm>
            <a:off x="777240" y="3749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need data shape, not data content.  Not a demo constraint — the correct production architecture for pharma.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inspect_data tool is the security gate: column names, dtypes, null counts, value ranges. Never raw rows, never USUBJID-level data.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787FF3A4-F35B-2441-2662-A23FBF6F04F7}"/>
              </a:ext>
            </a:extLst>
          </p:cNvPr>
          <p:cNvSpPr/>
          <p:nvPr/>
        </p:nvSpPr>
        <p:spPr>
          <a:xfrm>
            <a:off x="538480" y="1051560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034E87C0-CE0C-FB8C-640D-456B1B105389}"/>
              </a:ext>
            </a:extLst>
          </p:cNvPr>
          <p:cNvSpPr/>
          <p:nvPr/>
        </p:nvSpPr>
        <p:spPr>
          <a:xfrm>
            <a:off x="3383280" y="1051560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6BBCCFBA-968A-2734-6CD6-7A85B043FFAD}"/>
              </a:ext>
            </a:extLst>
          </p:cNvPr>
          <p:cNvSpPr/>
          <p:nvPr/>
        </p:nvSpPr>
        <p:spPr>
          <a:xfrm>
            <a:off x="6217920" y="1052068"/>
            <a:ext cx="54864" cy="23774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51E14D16-232C-5031-E116-397FC4B06454}"/>
              </a:ext>
            </a:extLst>
          </p:cNvPr>
          <p:cNvSpPr/>
          <p:nvPr/>
        </p:nvSpPr>
        <p:spPr>
          <a:xfrm>
            <a:off x="548640" y="3749040"/>
            <a:ext cx="54864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Human-in-the-Loop</a:t>
            </a:r>
            <a:endParaRPr lang="en-US" sz="36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6655BA2-62C1-AB6E-38B0-3DF4E0928778}"/>
              </a:ext>
            </a:extLst>
          </p:cNvPr>
          <p:cNvGrpSpPr/>
          <p:nvPr/>
        </p:nvGrpSpPr>
        <p:grpSpPr>
          <a:xfrm>
            <a:off x="594360" y="1024128"/>
            <a:ext cx="457200" cy="484908"/>
            <a:chOff x="548640" y="1143000"/>
            <a:chExt cx="457200" cy="484908"/>
          </a:xfrm>
        </p:grpSpPr>
        <p:sp>
          <p:nvSpPr>
            <p:cNvPr id="4" name="Shape 2"/>
            <p:cNvSpPr/>
            <p:nvPr/>
          </p:nvSpPr>
          <p:spPr>
            <a:xfrm>
              <a:off x="548640" y="1170708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 anchor="ctr"/>
            <a:lstStyle/>
            <a:p>
              <a:pPr algn="ctr"/>
              <a:endParaRPr lang="en-CA"/>
            </a:p>
          </p:txBody>
        </p:sp>
        <p:sp>
          <p:nvSpPr>
            <p:cNvPr id="5" name="Text 3"/>
            <p:cNvSpPr/>
            <p:nvPr/>
          </p:nvSpPr>
          <p:spPr>
            <a:xfrm>
              <a:off x="548640" y="11430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1">
              <a:noAutofit/>
            </a:bodyPr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</a:t>
              </a:r>
              <a:endParaRPr lang="en-US" sz="2000" dirty="0"/>
            </a:p>
          </p:txBody>
        </p:sp>
      </p:grpSp>
      <p:sp>
        <p:nvSpPr>
          <p:cNvPr id="6" name="Shape 4"/>
          <p:cNvSpPr/>
          <p:nvPr/>
        </p:nvSpPr>
        <p:spPr>
          <a:xfrm>
            <a:off x="1280160" y="1051560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1463040" y="919945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run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15392" y="919945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One-click approval, optional free-text reason </a:t>
            </a:r>
            <a:endParaRPr lang="en-US" sz="11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1F6BFA8-3477-3606-8CEE-7071A1E03AF4}"/>
              </a:ext>
            </a:extLst>
          </p:cNvPr>
          <p:cNvGrpSpPr/>
          <p:nvPr/>
        </p:nvGrpSpPr>
        <p:grpSpPr>
          <a:xfrm>
            <a:off x="594360" y="1604223"/>
            <a:ext cx="457200" cy="477981"/>
            <a:chOff x="548640" y="2036619"/>
            <a:chExt cx="457200" cy="477981"/>
          </a:xfrm>
        </p:grpSpPr>
        <p:sp>
          <p:nvSpPr>
            <p:cNvPr id="10" name="Shape 8"/>
            <p:cNvSpPr/>
            <p:nvPr/>
          </p:nvSpPr>
          <p:spPr>
            <a:xfrm>
              <a:off x="548640" y="2057400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Text 9"/>
            <p:cNvSpPr/>
            <p:nvPr/>
          </p:nvSpPr>
          <p:spPr>
            <a:xfrm>
              <a:off x="548640" y="2036619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endParaRPr lang="en-US" sz="20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1280160" y="1647305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1463040" y="152954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Per-variable review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5392" y="1529546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Accept/reject each derivation individually — partial approval supported</a:t>
            </a:r>
            <a:endParaRPr lang="en-US" sz="11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5791B00-8C87-54BB-845D-055168D79505}"/>
              </a:ext>
            </a:extLst>
          </p:cNvPr>
          <p:cNvGrpSpPr/>
          <p:nvPr/>
        </p:nvGrpSpPr>
        <p:grpSpPr>
          <a:xfrm>
            <a:off x="594360" y="2193042"/>
            <a:ext cx="457200" cy="498762"/>
            <a:chOff x="548640" y="2971800"/>
            <a:chExt cx="457200" cy="498762"/>
          </a:xfrm>
        </p:grpSpPr>
        <p:sp>
          <p:nvSpPr>
            <p:cNvPr id="16" name="Shape 14"/>
            <p:cNvSpPr/>
            <p:nvPr/>
          </p:nvSpPr>
          <p:spPr>
            <a:xfrm>
              <a:off x="548640" y="3013362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15"/>
            <p:cNvSpPr/>
            <p:nvPr/>
          </p:nvSpPr>
          <p:spPr>
            <a:xfrm>
              <a:off x="548640" y="29718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3</a:t>
              </a:r>
              <a:endParaRPr lang="en-US" sz="20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1280160" y="2243048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1463040" y="2111433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generated logic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15392" y="2111433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any variable's code in-place; re-executed and persisted </a:t>
            </a:r>
            <a:endParaRPr lang="en-US" sz="11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5F7FCFC-0AE4-1935-D56E-C4C028A10F0B}"/>
              </a:ext>
            </a:extLst>
          </p:cNvPr>
          <p:cNvGrpSpPr/>
          <p:nvPr/>
        </p:nvGrpSpPr>
        <p:grpSpPr>
          <a:xfrm>
            <a:off x="594360" y="2811086"/>
            <a:ext cx="457200" cy="498762"/>
            <a:chOff x="548640" y="3886200"/>
            <a:chExt cx="457200" cy="498762"/>
          </a:xfrm>
        </p:grpSpPr>
        <p:sp>
          <p:nvSpPr>
            <p:cNvPr id="22" name="Shape 20"/>
            <p:cNvSpPr/>
            <p:nvPr/>
          </p:nvSpPr>
          <p:spPr>
            <a:xfrm>
              <a:off x="548640" y="3927762"/>
              <a:ext cx="457200" cy="457200"/>
            </a:xfrm>
            <a:prstGeom prst="ellipse">
              <a:avLst/>
            </a:prstGeom>
            <a:solidFill>
              <a:srgbClr val="E86F33"/>
            </a:solidFill>
            <a:ln/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Text 21"/>
            <p:cNvSpPr/>
            <p:nvPr/>
          </p:nvSpPr>
          <p:spPr>
            <a:xfrm>
              <a:off x="548640" y="388620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4</a:t>
              </a:r>
              <a:endParaRPr lang="en-US" sz="2000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1280160" y="2845727"/>
            <a:ext cx="73152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1463040" y="271411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15392" y="2714112"/>
            <a:ext cx="4739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workflow with mandatory reason — written to feedback memory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(primary) with DB-backed approval state  •  Human feedback stored in long-term memory for future runs</a:t>
            </a:r>
            <a:endParaRPr lang="en-US" sz="1100" dirty="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7CDF14EB-D476-BA74-3CCA-72F6D1DB24B3}"/>
              </a:ext>
            </a:extLst>
          </p:cNvPr>
          <p:cNvSpPr/>
          <p:nvPr/>
        </p:nvSpPr>
        <p:spPr>
          <a:xfrm>
            <a:off x="548639" y="3819703"/>
            <a:ext cx="8046719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9094A8F8-6096-6433-48C8-74CF353A597D}"/>
              </a:ext>
            </a:extLst>
          </p:cNvPr>
          <p:cNvSpPr/>
          <p:nvPr/>
        </p:nvSpPr>
        <p:spPr>
          <a:xfrm>
            <a:off x="731520" y="368808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</a:t>
            </a:r>
            <a:endParaRPr lang="en-US" sz="140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8FBF68F8-26AE-DD7D-542A-A75B199B2759}"/>
              </a:ext>
            </a:extLst>
          </p:cNvPr>
          <p:cNvSpPr/>
          <p:nvPr/>
        </p:nvSpPr>
        <p:spPr>
          <a:xfrm>
            <a:off x="1558637" y="3688088"/>
            <a:ext cx="57648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→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FeedbackRepository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surfaced to future runs via pattern retrieval</a:t>
            </a:r>
            <a:endParaRPr lang="en-US" sz="1100" dirty="0"/>
          </a:p>
        </p:txBody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D16A7A53-F07A-C1F2-E5FB-26BA669FC909}"/>
              </a:ext>
            </a:extLst>
          </p:cNvPr>
          <p:cNvSpPr/>
          <p:nvPr/>
        </p:nvSpPr>
        <p:spPr>
          <a:xfrm>
            <a:off x="539496" y="3819703"/>
            <a:ext cx="54864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Traceability: 3-Layer Audit Architecture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520" y="12801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Trajectory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3627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AgentLens (OTel proxy)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36270" y="159639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call, tool use, response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66160" y="12801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7764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091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loguru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470910" y="159639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transitions, DAG progress, timing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17920" y="1097280"/>
            <a:ext cx="2606040" cy="1147318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00800" y="12801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1228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Audit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05550" y="1584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(audit/trail.py)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6305550" y="1596390"/>
            <a:ext cx="24765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Lineage, provenance, approvals, QC results</a:t>
            </a:r>
            <a:endParaRPr lang="en-US" sz="1100" dirty="0">
              <a:solidFill>
                <a:srgbClr val="1A2B42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80F774C-94A2-DC72-A183-CE82DC827B26}"/>
              </a:ext>
            </a:extLst>
          </p:cNvPr>
          <p:cNvGrpSpPr/>
          <p:nvPr/>
        </p:nvGrpSpPr>
        <p:grpSpPr>
          <a:xfrm>
            <a:off x="554990" y="3884749"/>
            <a:ext cx="8275320" cy="1005840"/>
            <a:chOff x="548640" y="3383280"/>
            <a:chExt cx="8046720" cy="1005840"/>
          </a:xfrm>
        </p:grpSpPr>
        <p:sp>
          <p:nvSpPr>
            <p:cNvPr id="19" name="Shape 14"/>
            <p:cNvSpPr/>
            <p:nvPr/>
          </p:nvSpPr>
          <p:spPr>
            <a:xfrm>
              <a:off x="548640" y="3383280"/>
              <a:ext cx="8046720" cy="1005840"/>
            </a:xfrm>
            <a:prstGeom prst="rect">
              <a:avLst/>
            </a:prstGeom>
            <a:solidFill>
              <a:schemeClr val="bg1"/>
            </a:solidFill>
            <a:ln/>
            <a:effectLst>
              <a:outerShdw blurRad="508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Text 15"/>
            <p:cNvSpPr/>
            <p:nvPr/>
          </p:nvSpPr>
          <p:spPr>
            <a:xfrm>
              <a:off x="777240" y="3429000"/>
              <a:ext cx="758952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6F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Append-only audit trail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100" dirty="0">
                  <a:solidFill>
                    <a:srgbClr val="1A2B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AuditRecord: timestamp, agent, input hash, output hash, rule, QC result, approval</a:t>
              </a:r>
              <a:endParaRPr lang="en-US" sz="1300" dirty="0">
                <a:solidFill>
                  <a:srgbClr val="1A2B42"/>
                </a:solidFill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A2B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Export: JSON (programmatic) + HTML (presentation)  •  Satisfies 21 CFR Part 11 traceability requirements</a:t>
              </a:r>
              <a:endParaRPr lang="en-US" sz="1300" dirty="0">
                <a:solidFill>
                  <a:srgbClr val="1A2B42"/>
                </a:solidFill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1E88A71C-6A8F-A353-DBA7-19D554B8728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2289810"/>
            <a:ext cx="8275320" cy="1529077"/>
          </a:xfrm>
          <a:prstGeom prst="rect">
            <a:avLst/>
          </a:prstGeom>
        </p:spPr>
      </p:pic>
      <p:sp>
        <p:nvSpPr>
          <p:cNvPr id="30" name="Shape 17">
            <a:extLst>
              <a:ext uri="{FF2B5EF4-FFF2-40B4-BE49-F238E27FC236}">
                <a16:creationId xmlns:a16="http://schemas.microsoft.com/office/drawing/2014/main" id="{108340F3-BD5B-B2CD-F655-CDF985BAC752}"/>
              </a:ext>
            </a:extLst>
          </p:cNvPr>
          <p:cNvSpPr/>
          <p:nvPr/>
        </p:nvSpPr>
        <p:spPr>
          <a:xfrm>
            <a:off x="552141" y="3884749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1033172C-3B31-FD23-984C-BA7244613AE0}"/>
              </a:ext>
            </a:extLst>
          </p:cNvPr>
          <p:cNvSpPr/>
          <p:nvPr/>
        </p:nvSpPr>
        <p:spPr>
          <a:xfrm>
            <a:off x="548640" y="1097280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64BEC69-237F-6AE5-4C3F-9478F544FF3B}"/>
              </a:ext>
            </a:extLst>
          </p:cNvPr>
          <p:cNvSpPr/>
          <p:nvPr/>
        </p:nvSpPr>
        <p:spPr>
          <a:xfrm>
            <a:off x="3374391" y="1097280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4C266D46-F8A3-A22A-1FEF-0108AD6A1E4A}"/>
              </a:ext>
            </a:extLst>
          </p:cNvPr>
          <p:cNvSpPr/>
          <p:nvPr/>
        </p:nvSpPr>
        <p:spPr>
          <a:xfrm>
            <a:off x="6218557" y="1096772"/>
            <a:ext cx="45719" cy="1147318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Memory: Short-Term + Long-Term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931920" cy="411480"/>
          </a:xfrm>
          <a:prstGeom prst="rect">
            <a:avLst/>
          </a:prstGeom>
          <a:solidFill>
            <a:srgbClr val="3A4F6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37360" y="155448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workflow run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37360" y="20299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workflow_states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50545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37360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state, DAG snapshot, spec path, pending approvals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298094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37360" y="29809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backend restarts;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for audit + restart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3456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workflow_id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489204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92040" y="15544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55448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Cross-run knowledge base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029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patterns,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qc_history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feedback 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50545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054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patterns, human, Feedback and QC history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298094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98094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and grows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45643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3456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variable type + spec similarity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generating code: agent tools query long-term memory for matching patterns. Production: DATABASE_URL env var → PostgreSQL. Zero code changes.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Demo: Running on CDISC Pilot Data</a:t>
            </a:r>
            <a:endParaRPr lang="en-US" sz="3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84048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 </a:t>
            </a: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specs/adsl_cdiscpilot01.yaml</a:t>
            </a:r>
            <a:endParaRPr lang="en-US" sz="1200" dirty="0">
              <a:solidFill>
                <a:srgbClr val="1A2B42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SDTM XPT files (DM, EX, DS, SV)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840480" cy="731520"/>
          </a:xfrm>
          <a:prstGeom prst="rect">
            <a:avLst/>
          </a:prstGeom>
          <a:solidFill>
            <a:schemeClr val="bg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4937760" y="1005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</a:t>
            </a:r>
            <a:r>
              <a:rPr lang="en-US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Derivations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14308" y="1005840"/>
            <a:ext cx="17646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AGEGR1, TRTDUR, SAFFL, ITTFL, EFFFL, DISCONFL, DURDIS</a:t>
            </a:r>
            <a:endParaRPr lang="en-US" sz="900" dirty="0">
              <a:solidFill>
                <a:srgbClr val="1A2B42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201218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640080" y="20121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4183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Interpreter parses YAML, flags DURDIS as underspecified (requires MH domain not in source — tests ambiguity handling)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251510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640080" y="25151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44475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built: EFFFL depends on ITTFL + SAFFL (computed first)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40080" y="301802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640080" y="30180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94767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+ QC run in parallel per variable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080" y="352094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640080" y="35209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45059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 checks outputs against each other AND ground truth (official CDISC ADaM as reference)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" y="4023868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20"/>
          <p:cNvSpPr/>
          <p:nvPr/>
        </p:nvSpPr>
        <p:spPr>
          <a:xfrm>
            <a:off x="640080" y="40238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95351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generates lineage report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800" y="457200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972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validation: derived ADaM compared against official cdiscpilot01 ADaM</a:t>
            </a:r>
            <a:endParaRPr lang="en-US" sz="1200" dirty="0"/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3099A28F-F3DD-5250-C113-B9F1F7111B6E}"/>
              </a:ext>
            </a:extLst>
          </p:cNvPr>
          <p:cNvSpPr/>
          <p:nvPr/>
        </p:nvSpPr>
        <p:spPr>
          <a:xfrm>
            <a:off x="546608" y="1005840"/>
            <a:ext cx="45719" cy="7315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E70D669A-81B5-3F05-B91F-A041F1240921}"/>
              </a:ext>
            </a:extLst>
          </p:cNvPr>
          <p:cNvSpPr/>
          <p:nvPr/>
        </p:nvSpPr>
        <p:spPr>
          <a:xfrm>
            <a:off x="4745991" y="1005840"/>
            <a:ext cx="45719" cy="73152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Trade-offs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150564"/>
              </p:ext>
            </p:extLst>
          </p:nvPr>
        </p:nvGraphicFramePr>
        <p:xfrm>
          <a:off x="548640" y="1005840"/>
          <a:ext cx="8046720" cy="29260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F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vs.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 vs. human gates everywhere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deep review gate: (per-variable approve/reject/edit + reject reason) + auto-approve on QC match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vs. rules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generation vs. deterministic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LLM generates, rules verify, guards enforce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 vs. 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Adaptable vs. locked-down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engine, different guard configs per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vs. custom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 vs. own 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PydanticAI agents + custom async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exposure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data to LLM vs. no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Dual-dataset: agents see shape, not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77240" y="4206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designed so that doing the right thing is the path of least resistance.</a:t>
            </a:r>
            <a:endParaRPr lang="en-US" sz="1400" dirty="0"/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7600E4A1-8F36-F792-CE15-B69825386FBC}"/>
              </a:ext>
            </a:extLst>
          </p:cNvPr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Path</a:t>
            </a:r>
            <a:endParaRPr lang="en-US" sz="3600" dirty="0">
              <a:solidFill>
                <a:srgbClr val="1A2B4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tiers. Same code, same images, same SQLAlchemy models — only the surrounding infrastructure changes.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94360" y="15087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Laptop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1965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1463040" y="19659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exploration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</a:t>
            </a: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594360" y="27889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1463040" y="2788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59436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1463040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 or Claude Code thru proxy mailbox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59436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436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1463040" y="4023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0" name="Shape 17"/>
          <p:cNvSpPr/>
          <p:nvPr/>
        </p:nvSpPr>
        <p:spPr>
          <a:xfrm>
            <a:off x="3395980" y="1370330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474720" y="150876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88620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Small-scale Prod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474720" y="1965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4" name="Text 20"/>
          <p:cNvSpPr/>
          <p:nvPr/>
        </p:nvSpPr>
        <p:spPr>
          <a:xfrm>
            <a:off x="4343400" y="19659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team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5" name="Text 21"/>
          <p:cNvSpPr/>
          <p:nvPr/>
        </p:nvSpPr>
        <p:spPr>
          <a:xfrm>
            <a:off x="347472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6" name="Text 22"/>
          <p:cNvSpPr/>
          <p:nvPr/>
        </p:nvSpPr>
        <p:spPr>
          <a:xfrm>
            <a:off x="434340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7" name="Text 23"/>
          <p:cNvSpPr/>
          <p:nvPr/>
        </p:nvSpPr>
        <p:spPr>
          <a:xfrm>
            <a:off x="3474720" y="27889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28" name="Text 24"/>
          <p:cNvSpPr/>
          <p:nvPr/>
        </p:nvSpPr>
        <p:spPr>
          <a:xfrm>
            <a:off x="4343400" y="2788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(managed)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29" name="Text 25"/>
          <p:cNvSpPr/>
          <p:nvPr/>
        </p:nvSpPr>
        <p:spPr>
          <a:xfrm>
            <a:off x="347472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343400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 VNet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1" name="Text 27"/>
          <p:cNvSpPr/>
          <p:nvPr/>
        </p:nvSpPr>
        <p:spPr>
          <a:xfrm>
            <a:off x="347472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2" name="Text 28"/>
          <p:cNvSpPr/>
          <p:nvPr/>
        </p:nvSpPr>
        <p:spPr>
          <a:xfrm>
            <a:off x="4343400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replicas / nginx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3" name="Text 29"/>
          <p:cNvSpPr/>
          <p:nvPr/>
        </p:nvSpPr>
        <p:spPr>
          <a:xfrm>
            <a:off x="347472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4" name="Text 30"/>
          <p:cNvSpPr/>
          <p:nvPr/>
        </p:nvSpPr>
        <p:spPr>
          <a:xfrm>
            <a:off x="4343400" y="4023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storage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Datalake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35" name="Shape 31"/>
          <p:cNvSpPr/>
          <p:nvPr/>
        </p:nvSpPr>
        <p:spPr>
          <a:xfrm>
            <a:off x="6217920" y="1371600"/>
            <a:ext cx="2697480" cy="32004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55080" y="1508760"/>
            <a:ext cx="320040" cy="3200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76656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Prod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355080" y="1965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39" name="Text 34"/>
          <p:cNvSpPr/>
          <p:nvPr/>
        </p:nvSpPr>
        <p:spPr>
          <a:xfrm>
            <a:off x="7223760" y="19659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enterprise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0" name="Text 35"/>
          <p:cNvSpPr/>
          <p:nvPr/>
        </p:nvSpPr>
        <p:spPr>
          <a:xfrm>
            <a:off x="635508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1" name="Text 36"/>
          <p:cNvSpPr/>
          <p:nvPr/>
        </p:nvSpPr>
        <p:spPr>
          <a:xfrm>
            <a:off x="722376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Helm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2" name="Text 37"/>
          <p:cNvSpPr/>
          <p:nvPr/>
        </p:nvSpPr>
        <p:spPr>
          <a:xfrm>
            <a:off x="6355080" y="27889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3" name="Text 38"/>
          <p:cNvSpPr/>
          <p:nvPr/>
        </p:nvSpPr>
        <p:spPr>
          <a:xfrm>
            <a:off x="7223760" y="2788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(managed)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4" name="Text 39"/>
          <p:cNvSpPr/>
          <p:nvPr/>
        </p:nvSpPr>
        <p:spPr>
          <a:xfrm>
            <a:off x="635508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5" name="Text 40"/>
          <p:cNvSpPr/>
          <p:nvPr/>
        </p:nvSpPr>
        <p:spPr>
          <a:xfrm>
            <a:off x="7223760" y="3200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 VNet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6" name="Text 41"/>
          <p:cNvSpPr/>
          <p:nvPr/>
        </p:nvSpPr>
        <p:spPr>
          <a:xfrm>
            <a:off x="635508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7" name="Text 42"/>
          <p:cNvSpPr/>
          <p:nvPr/>
        </p:nvSpPr>
        <p:spPr>
          <a:xfrm>
            <a:off x="7223760" y="3611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Auto-scaled pods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48" name="Text 43"/>
          <p:cNvSpPr/>
          <p:nvPr/>
        </p:nvSpPr>
        <p:spPr>
          <a:xfrm>
            <a:off x="635508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6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>
              <a:solidFill>
                <a:srgbClr val="E86F33"/>
              </a:solidFill>
            </a:endParaRPr>
          </a:p>
        </p:txBody>
      </p:sp>
      <p:sp>
        <p:nvSpPr>
          <p:cNvPr id="49" name="Text 44"/>
          <p:cNvSpPr/>
          <p:nvPr/>
        </p:nvSpPr>
        <p:spPr>
          <a:xfrm>
            <a:off x="7223760" y="4023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storage / </a:t>
            </a:r>
            <a:r>
              <a:rPr lang="en-US" sz="950" dirty="0" err="1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Datalake</a:t>
            </a:r>
            <a:endParaRPr lang="en-US" sz="950" dirty="0">
              <a:solidFill>
                <a:srgbClr val="1A2B42"/>
              </a:solidFill>
            </a:endParaRPr>
          </a:p>
        </p:txBody>
      </p:sp>
      <p:sp>
        <p:nvSpPr>
          <p:cNvPr id="50" name="Text 4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is stateless — all state in PostgreSQL. Horizontal scale = add replicas. Zero code changes.</a:t>
            </a:r>
            <a:endParaRPr lang="en-US" sz="110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C2438916-6BB4-F82A-0629-545F5F156EC7}"/>
              </a:ext>
            </a:extLst>
          </p:cNvPr>
          <p:cNvSpPr/>
          <p:nvPr/>
        </p:nvSpPr>
        <p:spPr>
          <a:xfrm>
            <a:off x="442214" y="1371600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A799E4B-7108-D16B-5A6F-CDAB22599A0C}"/>
              </a:ext>
            </a:extLst>
          </p:cNvPr>
          <p:cNvSpPr/>
          <p:nvPr/>
        </p:nvSpPr>
        <p:spPr>
          <a:xfrm>
            <a:off x="3341116" y="1370330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3" name="Shape 16">
            <a:extLst>
              <a:ext uri="{FF2B5EF4-FFF2-40B4-BE49-F238E27FC236}">
                <a16:creationId xmlns:a16="http://schemas.microsoft.com/office/drawing/2014/main" id="{9DBDA587-44EA-98B9-4BBD-9FE3EDFB4BE7}"/>
              </a:ext>
            </a:extLst>
          </p:cNvPr>
          <p:cNvSpPr/>
          <p:nvPr/>
        </p:nvSpPr>
        <p:spPr>
          <a:xfrm>
            <a:off x="6208776" y="1370330"/>
            <a:ext cx="54864" cy="32004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Resilience &amp; Restart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0515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Checkpointing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13533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pipeline step, the interpreter persists the FSM state + ctx snapshot to workflow_states. A uvicorn reload or crash mid-run leaves a consistent, resumable record.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965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1488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011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in the Audit Trail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34440" y="231343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except branch appends a workflow_failed record with the error, exception type, and failing step. The UI audit tab tells you why a run aborted.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1"/>
          <p:cNvSpPr/>
          <p:nvPr/>
        </p:nvSpPr>
        <p:spPr>
          <a:xfrm>
            <a:off x="548640" y="292608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1089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9718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Restart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34440" y="32735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/workflows/{id}/rerun starts a new run with the same spec, then atomically deletes the old one — DB row, in-memory state, output files — only after the new run has launched.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5"/>
          <p:cNvSpPr/>
          <p:nvPr/>
        </p:nvSpPr>
        <p:spPr>
          <a:xfrm>
            <a:off x="548640" y="3886200"/>
            <a:ext cx="54864" cy="7772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6908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9319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Runs Stay Visible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234440" y="42336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list_workflow_ids reads from _interpreters so failures don't vanish from the dashboard the moment the async task completes.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</a:t>
            </a:r>
            <a:endParaRPr lang="en-US" sz="36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60604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260604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60604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logic coverage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475488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Pyright errors (strict)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03720" y="109728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6903720" y="1188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90372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violations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45720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21/21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Import-linter contracts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60604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26060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260604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pre-commit checks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54880" y="2560320"/>
            <a:ext cx="1920240" cy="109728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475488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6F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75488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code (vulture)</a:t>
            </a:r>
            <a:endParaRPr lang="en-US" sz="1100" dirty="0">
              <a:solidFill>
                <a:srgbClr val="1A2B42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4160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custom AST checks: domain purity, patient data leak detection, datetime safety, enum discipline, LLM gateway enforcement, file/function length, no SQL in engine, no UI exceptions in lower layers, repo DI enforcement</a:t>
            </a:r>
            <a:endParaRPr lang="en-US" sz="1050" dirty="0">
              <a:solidFill>
                <a:srgbClr val="1A2B42"/>
              </a:solidFill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213FD048-5669-73D9-4F81-566D5A9BE848}"/>
              </a:ext>
            </a:extLst>
          </p:cNvPr>
          <p:cNvSpPr/>
          <p:nvPr/>
        </p:nvSpPr>
        <p:spPr>
          <a:xfrm>
            <a:off x="457200" y="109728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8E038E89-905B-4A51-FB5A-61F8C20A7C11}"/>
              </a:ext>
            </a:extLst>
          </p:cNvPr>
          <p:cNvSpPr/>
          <p:nvPr/>
        </p:nvSpPr>
        <p:spPr>
          <a:xfrm>
            <a:off x="2606040" y="110109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8825A397-D76B-2B53-8733-801C9A49B635}"/>
              </a:ext>
            </a:extLst>
          </p:cNvPr>
          <p:cNvSpPr/>
          <p:nvPr/>
        </p:nvSpPr>
        <p:spPr>
          <a:xfrm>
            <a:off x="4754880" y="109601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DC1864E-0599-A060-C65E-1EAE6435DC25}"/>
              </a:ext>
            </a:extLst>
          </p:cNvPr>
          <p:cNvSpPr/>
          <p:nvPr/>
        </p:nvSpPr>
        <p:spPr>
          <a:xfrm>
            <a:off x="6903720" y="110109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9491BE6A-1303-4E61-3E9B-A8195ED66A1A}"/>
              </a:ext>
            </a:extLst>
          </p:cNvPr>
          <p:cNvSpPr/>
          <p:nvPr/>
        </p:nvSpPr>
        <p:spPr>
          <a:xfrm>
            <a:off x="443230" y="255905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A5D13E70-B588-D987-D424-4EABACB5F0B7}"/>
              </a:ext>
            </a:extLst>
          </p:cNvPr>
          <p:cNvSpPr/>
          <p:nvPr/>
        </p:nvSpPr>
        <p:spPr>
          <a:xfrm>
            <a:off x="2595879" y="256032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A4F85CA-1B77-32A5-8356-A2F3DDA79340}"/>
              </a:ext>
            </a:extLst>
          </p:cNvPr>
          <p:cNvSpPr/>
          <p:nvPr/>
        </p:nvSpPr>
        <p:spPr>
          <a:xfrm>
            <a:off x="4753609" y="2557780"/>
            <a:ext cx="45719" cy="10972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Prototype Boundaries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ADSL only — BDS (longitudinal) is the natural extension beyond the assignment scope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specs only — production needs PDF/Word parsing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study — memory architecture supports multi-study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73152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CDISC conformance — Pinnacle 21 integration needed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2"/>
          <p:cNvSpPr/>
          <p:nvPr/>
        </p:nvSpPr>
        <p:spPr>
          <a:xfrm>
            <a:off x="731520" y="34290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guards are rule-based (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AgentLens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proxy + custom rules)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2064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Could Build Next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120640" y="146304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512064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 support (ADAE, ADLB — one row per patient/visit/parameter)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20640" y="210312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0" name="Text 18"/>
          <p:cNvSpPr/>
          <p:nvPr/>
        </p:nvSpPr>
        <p:spPr>
          <a:xfrm>
            <a:off x="5120640" y="2103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5778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spec parsing (SAP → YAML → engine)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120640" y="274320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512064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2697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pattern learning (cross-study long-term memory)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3383280"/>
            <a:ext cx="320040" cy="320040"/>
          </a:xfrm>
          <a:prstGeom prst="ellipse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4"/>
          <p:cNvSpPr/>
          <p:nvPr/>
        </p:nvSpPr>
        <p:spPr>
          <a:xfrm>
            <a:off x="512064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7784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CDISC conformance post-check (Pinnacle 21 integration)</a:t>
            </a:r>
            <a:endParaRPr lang="en-US" sz="1050" dirty="0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3C3CA4AF-129F-BE86-1F9F-944A8ECDB15F}"/>
              </a:ext>
            </a:extLst>
          </p:cNvPr>
          <p:cNvSpPr/>
          <p:nvPr/>
        </p:nvSpPr>
        <p:spPr>
          <a:xfrm>
            <a:off x="548641" y="141732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40F70658-BF88-F3A9-D0D7-E90BA7987573}"/>
              </a:ext>
            </a:extLst>
          </p:cNvPr>
          <p:cNvSpPr/>
          <p:nvPr/>
        </p:nvSpPr>
        <p:spPr>
          <a:xfrm>
            <a:off x="548640" y="192024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AF80CC52-4E3C-D520-2AE5-CDA055884C1B}"/>
              </a:ext>
            </a:extLst>
          </p:cNvPr>
          <p:cNvSpPr/>
          <p:nvPr/>
        </p:nvSpPr>
        <p:spPr>
          <a:xfrm>
            <a:off x="548640" y="242316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991EBF2B-6031-2B99-27B5-EFC314B92BC8}"/>
              </a:ext>
            </a:extLst>
          </p:cNvPr>
          <p:cNvSpPr/>
          <p:nvPr/>
        </p:nvSpPr>
        <p:spPr>
          <a:xfrm>
            <a:off x="543560" y="292100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1CE1AA4E-A771-0398-C044-5E54F255888A}"/>
              </a:ext>
            </a:extLst>
          </p:cNvPr>
          <p:cNvSpPr/>
          <p:nvPr/>
        </p:nvSpPr>
        <p:spPr>
          <a:xfrm>
            <a:off x="543560" y="3429000"/>
            <a:ext cx="45719" cy="41148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B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>
              <a:solidFill>
                <a:srgbClr val="1A2B42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7680960" cy="100584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54864" cy="1005840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"Science sans conscience n'est que ruine de l'ame."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Rabelais</a:t>
            </a:r>
            <a:endParaRPr lang="en-US" sz="1200" dirty="0">
              <a:solidFill>
                <a:srgbClr val="1A2B42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AI, conscience is not philosophy.</a:t>
            </a:r>
            <a:endParaRPr lang="en-US" sz="1400" dirty="0">
              <a:solidFill>
                <a:srgbClr val="1A2B42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double programming, human gates, append-only audit trails,</a:t>
            </a:r>
            <a:endParaRPr lang="en-US" sz="1400" dirty="0">
              <a:solidFill>
                <a:srgbClr val="1A2B42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agents that never see patient data.</a:t>
            </a:r>
            <a:endParaRPr lang="en-US" sz="1400" dirty="0">
              <a:solidFill>
                <a:srgbClr val="1A2B42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731520" y="4160520"/>
            <a:ext cx="7680960" cy="36576"/>
          </a:xfrm>
          <a:prstGeom prst="rect">
            <a:avLst/>
          </a:prstGeom>
          <a:solidFill>
            <a:srgbClr val="E86F33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[GitHub repository link]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2610</TotalTime>
  <Words>1681</Words>
  <Application>Microsoft Office PowerPoint</Application>
  <PresentationFormat>On-screen Show (16:9)</PresentationFormat>
  <Paragraphs>366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Data Derivation Engine</dc:title>
  <dc:subject>PptxGenJS Presentation</dc:subject>
  <dc:creator>Matthieu Boujonnier</dc:creator>
  <cp:lastModifiedBy>Matthieu Boujonnier</cp:lastModifiedBy>
  <cp:revision>54</cp:revision>
  <dcterms:created xsi:type="dcterms:W3CDTF">2026-04-12T22:38:38Z</dcterms:created>
  <dcterms:modified xsi:type="dcterms:W3CDTF">2026-04-14T18:13:52Z</dcterms:modified>
</cp:coreProperties>
</file>