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8" r:id="rId5"/>
    <p:sldId id="259" r:id="rId6"/>
    <p:sldId id="273" r:id="rId7"/>
    <p:sldId id="274" r:id="rId8"/>
    <p:sldId id="275" r:id="rId9"/>
    <p:sldId id="260" r:id="rId10"/>
    <p:sldId id="261" r:id="rId11"/>
    <p:sldId id="262" r:id="rId12"/>
    <p:sldId id="263" r:id="rId13"/>
    <p:sldId id="264" r:id="rId14"/>
    <p:sldId id="265" r:id="rId15"/>
    <p:sldId id="267" r:id="rId16"/>
    <p:sldId id="266" r:id="rId17"/>
    <p:sldId id="269" r:id="rId18"/>
    <p:sldId id="270" r:id="rId19"/>
    <p:sldId id="271" r:id="rId20"/>
    <p:sldId id="272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1F3"/>
    <a:srgbClr val="1A2B42"/>
    <a:srgbClr val="697383"/>
    <a:srgbClr val="3A4F6A"/>
    <a:srgbClr val="E86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1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9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634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24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393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225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96B65-180A-739B-3EF4-804FE40F4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1F4936-BB24-2E86-3E77-776D75B3F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00B28-A985-ECDB-0CAD-635D2C11D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3FA1E-6723-937F-4871-286ECFF1F6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602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microsoft.com/office/2007/relationships/hdphoto" Target="../media/hdphoto5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10.png"/><Relationship Id="rId14" Type="http://schemas.microsoft.com/office/2007/relationships/hdphoto" Target="../media/hdphoto6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6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8.wdp"/><Relationship Id="rId5" Type="http://schemas.openxmlformats.org/officeDocument/2006/relationships/image" Target="../media/image16.png"/><Relationship Id="rId4" Type="http://schemas.microsoft.com/office/2007/relationships/hdphoto" Target="../media/hdphoto7.wd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1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1.wdp"/><Relationship Id="rId5" Type="http://schemas.openxmlformats.org/officeDocument/2006/relationships/image" Target="../media/image19.png"/><Relationship Id="rId4" Type="http://schemas.microsoft.com/office/2007/relationships/hdphoto" Target="../media/hdphoto10.wdp"/><Relationship Id="rId9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097280"/>
            <a:ext cx="54864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120" y="1097280"/>
            <a:ext cx="548640" cy="54864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31520" y="1828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A2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Data</a:t>
            </a:r>
            <a:endParaRPr lang="en-US" sz="4200" dirty="0">
              <a:solidFill>
                <a:srgbClr val="1A2B42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A2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Derivation Engine</a:t>
            </a:r>
            <a:endParaRPr lang="en-US" sz="4200" dirty="0">
              <a:solidFill>
                <a:srgbClr val="1A2B42"/>
              </a:solidFill>
            </a:endParaRPr>
          </a:p>
        </p:txBody>
      </p:sp>
      <p:sp>
        <p:nvSpPr>
          <p:cNvPr id="7" name="Text 2"/>
          <p:cNvSpPr/>
          <p:nvPr/>
        </p:nvSpPr>
        <p:spPr>
          <a:xfrm>
            <a:off x="731520" y="3246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SDTM-to-ADaM transformation</a:t>
            </a:r>
            <a:endParaRPr lang="en-US" sz="1600" dirty="0">
              <a:solidFill>
                <a:srgbClr val="1A2B42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regulatory-grade verification and full audit traceability</a:t>
            </a:r>
            <a:endParaRPr lang="en-US" sz="1600" dirty="0">
              <a:solidFill>
                <a:srgbClr val="1A2B42"/>
              </a:solidFill>
            </a:endParaRPr>
          </a:p>
        </p:txBody>
      </p:sp>
      <p:sp>
        <p:nvSpPr>
          <p:cNvPr id="8" name="Shape 3"/>
          <p:cNvSpPr/>
          <p:nvPr/>
        </p:nvSpPr>
        <p:spPr>
          <a:xfrm>
            <a:off x="731520" y="4206240"/>
            <a:ext cx="4114800" cy="36576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4"/>
          <p:cNvSpPr/>
          <p:nvPr/>
        </p:nvSpPr>
        <p:spPr>
          <a:xfrm>
            <a:off x="73152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Matthieu Boujonnier  |  AI/ML Lead Candidate  |  April 2026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6858000" y="457200"/>
            <a:ext cx="2011680" cy="914400"/>
          </a:xfrm>
          <a:prstGeom prst="rect">
            <a:avLst/>
          </a:prstGeom>
          <a:solidFill>
            <a:srgbClr val="F0F1F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6"/>
          <p:cNvSpPr/>
          <p:nvPr/>
        </p:nvSpPr>
        <p:spPr>
          <a:xfrm>
            <a:off x="6858000" y="4754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6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CDDE</a:t>
            </a:r>
            <a:endParaRPr lang="en-US" sz="2800" dirty="0"/>
          </a:p>
        </p:txBody>
      </p:sp>
      <p:sp>
        <p:nvSpPr>
          <p:cNvPr id="12" name="Text 7"/>
          <p:cNvSpPr/>
          <p:nvPr/>
        </p:nvSpPr>
        <p:spPr>
          <a:xfrm>
            <a:off x="6858000" y="960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Prototype</a:t>
            </a:r>
            <a:endParaRPr lang="en-US" sz="1000" dirty="0">
              <a:solidFill>
                <a:srgbClr val="1A2B4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645920" cy="502920"/>
          </a:xfrm>
          <a:prstGeom prst="rect">
            <a:avLst/>
          </a:prstGeom>
          <a:solidFill>
            <a:srgbClr val="3A4F6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CRF/EDC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4560" y="10515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14600" y="1051560"/>
            <a:ext cx="1645920" cy="502920"/>
          </a:xfrm>
          <a:prstGeom prst="rect">
            <a:avLst/>
          </a:prstGeom>
          <a:solidFill>
            <a:srgbClr val="1A2B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2514600" y="1051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SDTM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46666" y="10515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80560" y="1051560"/>
            <a:ext cx="1645920" cy="502920"/>
          </a:xfrm>
          <a:prstGeom prst="rect">
            <a:avLst/>
          </a:prstGeom>
          <a:solidFill>
            <a:srgbClr val="E86F33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4480560" y="1051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40334" y="10515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46520" y="1051560"/>
            <a:ext cx="1645920" cy="502920"/>
          </a:xfrm>
          <a:prstGeom prst="rect">
            <a:avLst/>
          </a:prstGeom>
          <a:solidFill>
            <a:srgbClr val="3A4F6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446520" y="1051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0" y="777240"/>
            <a:ext cx="1828800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38912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>
              <a:solidFill>
                <a:srgbClr val="1A2B42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210312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548640" y="2103120"/>
            <a:ext cx="54864" cy="256032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8600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8872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7240" y="278892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SAS/R programmers manually implement derivation specs. Every variable requires double programming (ICH E6).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Error-prone, slow, expensive.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383280" y="210312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Shape 20"/>
          <p:cNvSpPr/>
          <p:nvPr/>
        </p:nvSpPr>
        <p:spPr>
          <a:xfrm>
            <a:off x="3383280" y="2103120"/>
            <a:ext cx="54864" cy="256032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286000"/>
            <a:ext cx="320040" cy="3200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02336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Risk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3611880" y="278892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derivation can change the outcome of a drug approval decision.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217920" y="210312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8" name="Shape 24"/>
          <p:cNvSpPr/>
          <p:nvPr/>
        </p:nvSpPr>
        <p:spPr>
          <a:xfrm>
            <a:off x="6217920" y="2103120"/>
            <a:ext cx="54864" cy="256032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286000"/>
            <a:ext cx="320040" cy="3200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857999" y="2286000"/>
            <a:ext cx="18222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6446520" y="278892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generate derivation code — but the regulated environment demands verification, traceability, and human oversight.</a:t>
            </a:r>
            <a:endParaRPr lang="en-US" sz="120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04ACFB2-A47B-5DFF-0845-4FB8660149ED}"/>
              </a:ext>
            </a:extLst>
          </p:cNvPr>
          <p:cNvSpPr/>
          <p:nvPr/>
        </p:nvSpPr>
        <p:spPr>
          <a:xfrm>
            <a:off x="4414520" y="698500"/>
            <a:ext cx="1767586" cy="11049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0F1B2D"/>
                </a:solidFill>
                <a:latin typeface="Georgia" pitchFamily="34" charset="0"/>
              </a:rPr>
              <a:t>Solution Overview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 with 5 specialized agents mirroring the real pharma workflow</a:t>
            </a:r>
            <a:endParaRPr lang="en-US" sz="1400" dirty="0">
              <a:solidFill>
                <a:srgbClr val="1A2B42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554480" cy="21031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914400" y="1606737"/>
            <a:ext cx="457200" cy="45720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914400" y="160673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2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4400" y="2194566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6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 interpreter</a:t>
            </a:r>
          </a:p>
          <a:p>
            <a:pPr marL="0" indent="0" algn="ctr">
              <a:buNone/>
            </a:pPr>
            <a:r>
              <a:rPr lang="en-US" sz="1500" b="1" dirty="0">
                <a:solidFill>
                  <a:srgbClr val="E86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spec,</a:t>
            </a:r>
            <a:endParaRPr lang="en-US" sz="1100" dirty="0">
              <a:solidFill>
                <a:srgbClr val="1A2B42"/>
              </a:solidFill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ambiguities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1920240" y="2148846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084832" y="1508760"/>
            <a:ext cx="1554480" cy="21031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0"/>
          <p:cNvSpPr/>
          <p:nvPr/>
        </p:nvSpPr>
        <p:spPr>
          <a:xfrm>
            <a:off x="2633472" y="1606737"/>
            <a:ext cx="457200" cy="45720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1"/>
          <p:cNvSpPr/>
          <p:nvPr/>
        </p:nvSpPr>
        <p:spPr>
          <a:xfrm>
            <a:off x="2633472" y="160673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33472" y="2194566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76272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6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Coder</a:t>
            </a:r>
            <a:endParaRPr lang="en-US" sz="1500" b="1" dirty="0">
              <a:solidFill>
                <a:srgbClr val="E86F33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E86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176272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code</a:t>
            </a:r>
            <a:endParaRPr lang="en-US" sz="1100" dirty="0">
              <a:solidFill>
                <a:srgbClr val="1A2B42"/>
              </a:solidFill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 programmer)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18" name="Text 14"/>
          <p:cNvSpPr/>
          <p:nvPr/>
        </p:nvSpPr>
        <p:spPr>
          <a:xfrm>
            <a:off x="3639312" y="2148846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3803904" y="1508760"/>
            <a:ext cx="1554480" cy="21031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6"/>
          <p:cNvSpPr/>
          <p:nvPr/>
        </p:nvSpPr>
        <p:spPr>
          <a:xfrm>
            <a:off x="4352544" y="1606737"/>
            <a:ext cx="457200" cy="45720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7"/>
          <p:cNvSpPr/>
          <p:nvPr/>
        </p:nvSpPr>
        <p:spPr>
          <a:xfrm>
            <a:off x="4352544" y="160673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52544" y="2194566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895344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6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QC Programmer</a:t>
            </a:r>
          </a:p>
          <a:p>
            <a:pPr marL="0" indent="0" algn="ctr">
              <a:buNone/>
            </a:pPr>
            <a:r>
              <a:rPr lang="en-US" sz="1500" b="1" dirty="0">
                <a:solidFill>
                  <a:srgbClr val="E86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3895344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QC</a:t>
            </a:r>
            <a:endParaRPr lang="en-US" sz="1100" dirty="0">
              <a:solidFill>
                <a:srgbClr val="1A2B42"/>
              </a:solidFill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(isolated context)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25" name="Text 20"/>
          <p:cNvSpPr/>
          <p:nvPr/>
        </p:nvSpPr>
        <p:spPr>
          <a:xfrm>
            <a:off x="5358384" y="2148846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5522976" y="1508760"/>
            <a:ext cx="1554480" cy="21031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Shape 22"/>
          <p:cNvSpPr/>
          <p:nvPr/>
        </p:nvSpPr>
        <p:spPr>
          <a:xfrm>
            <a:off x="6071616" y="1606737"/>
            <a:ext cx="457200" cy="45720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3"/>
          <p:cNvSpPr/>
          <p:nvPr/>
        </p:nvSpPr>
        <p:spPr>
          <a:xfrm>
            <a:off x="6071616" y="160673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71616" y="2194566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614416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6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Debugger</a:t>
            </a:r>
          </a:p>
          <a:p>
            <a:pPr marL="0" indent="0" algn="ctr">
              <a:buNone/>
            </a:pPr>
            <a:r>
              <a:rPr lang="en-US" sz="1500" b="1" dirty="0">
                <a:solidFill>
                  <a:srgbClr val="E86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Debugs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5614416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100" dirty="0">
              <a:solidFill>
                <a:srgbClr val="1A2B42"/>
              </a:solidFill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discrepancies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32" name="Text 26"/>
          <p:cNvSpPr/>
          <p:nvPr/>
        </p:nvSpPr>
        <p:spPr>
          <a:xfrm>
            <a:off x="7077456" y="2148846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7242048" y="1508760"/>
            <a:ext cx="1554480" cy="21031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4" name="Shape 28"/>
          <p:cNvSpPr/>
          <p:nvPr/>
        </p:nvSpPr>
        <p:spPr>
          <a:xfrm>
            <a:off x="7790688" y="1606737"/>
            <a:ext cx="457200" cy="45720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5" name="Text 29"/>
          <p:cNvSpPr/>
          <p:nvPr/>
        </p:nvSpPr>
        <p:spPr>
          <a:xfrm>
            <a:off x="7790688" y="160673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90688" y="2194566"/>
            <a:ext cx="457200" cy="4572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333488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6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</a:t>
            </a:r>
          </a:p>
          <a:p>
            <a:pPr marL="0" indent="0" algn="ctr">
              <a:buNone/>
            </a:pPr>
            <a:r>
              <a:rPr lang="en-US" sz="1500" b="1" dirty="0">
                <a:solidFill>
                  <a:srgbClr val="E86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Audits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7333488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+</a:t>
            </a:r>
            <a:endParaRPr lang="en-US" sz="1100" dirty="0">
              <a:solidFill>
                <a:srgbClr val="1A2B42"/>
              </a:solidFill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39" name="Shape 32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20" y="4083210"/>
            <a:ext cx="320040" cy="32004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188720" y="39319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real data: CDISC Pilot Study (cdiscpilot01) — Alzheimer's trial, 7 ADSL derivations</a:t>
            </a:r>
            <a:endParaRPr lang="en-US" sz="1300" dirty="0"/>
          </a:p>
        </p:txBody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F800DF59-298D-B2D3-EFBC-E00AD3D19AB4}"/>
              </a:ext>
            </a:extLst>
          </p:cNvPr>
          <p:cNvSpPr/>
          <p:nvPr/>
        </p:nvSpPr>
        <p:spPr>
          <a:xfrm>
            <a:off x="365760" y="1508760"/>
            <a:ext cx="45719" cy="210312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77AE3592-D154-0C65-93EF-A0167EAF3CBD}"/>
              </a:ext>
            </a:extLst>
          </p:cNvPr>
          <p:cNvSpPr/>
          <p:nvPr/>
        </p:nvSpPr>
        <p:spPr>
          <a:xfrm>
            <a:off x="2061972" y="1508760"/>
            <a:ext cx="45719" cy="210312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1EAEE6AA-F4E6-504C-4E6C-0A6072C962F6}"/>
              </a:ext>
            </a:extLst>
          </p:cNvPr>
          <p:cNvSpPr/>
          <p:nvPr/>
        </p:nvSpPr>
        <p:spPr>
          <a:xfrm>
            <a:off x="3793236" y="1508760"/>
            <a:ext cx="45719" cy="210312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4885C61D-82FA-B574-EB21-7EFCB8D975B8}"/>
              </a:ext>
            </a:extLst>
          </p:cNvPr>
          <p:cNvSpPr/>
          <p:nvPr/>
        </p:nvSpPr>
        <p:spPr>
          <a:xfrm>
            <a:off x="5524247" y="1508760"/>
            <a:ext cx="45719" cy="210312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7" name="Shape 20">
            <a:extLst>
              <a:ext uri="{FF2B5EF4-FFF2-40B4-BE49-F238E27FC236}">
                <a16:creationId xmlns:a16="http://schemas.microsoft.com/office/drawing/2014/main" id="{B398A512-BFD9-E25F-AD20-3528E9A6C429}"/>
              </a:ext>
            </a:extLst>
          </p:cNvPr>
          <p:cNvSpPr/>
          <p:nvPr/>
        </p:nvSpPr>
        <p:spPr>
          <a:xfrm>
            <a:off x="7235952" y="1508760"/>
            <a:ext cx="45719" cy="210312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A060642-60F9-92F7-1AC7-3195EEB7ADF6}"/>
              </a:ext>
            </a:extLst>
          </p:cNvPr>
          <p:cNvCxnSpPr>
            <a:cxnSpLocks/>
          </p:cNvCxnSpPr>
          <p:nvPr/>
        </p:nvCxnSpPr>
        <p:spPr>
          <a:xfrm>
            <a:off x="7164975" y="1352006"/>
            <a:ext cx="0" cy="225987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31EBCC8-8EF3-24F9-6E13-E65BE037F992}"/>
              </a:ext>
            </a:extLst>
          </p:cNvPr>
          <p:cNvSpPr txBox="1"/>
          <p:nvPr/>
        </p:nvSpPr>
        <p:spPr>
          <a:xfrm>
            <a:off x="6470033" y="1101132"/>
            <a:ext cx="1379438" cy="276999"/>
          </a:xfrm>
          <a:prstGeom prst="rect">
            <a:avLst/>
          </a:prstGeom>
          <a:ln w="19050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CA" sz="1200" dirty="0">
              <a:solidFill>
                <a:srgbClr val="3A4F6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Running on CDISC Pilot Data</a:t>
            </a:r>
            <a:endParaRPr lang="en-US" sz="3000" dirty="0">
              <a:solidFill>
                <a:srgbClr val="1A2B4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731520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</a:t>
            </a: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specs/adsl_cdiscpilot01.yaml + SDTM XPT files (DM, EX, DS, SV)</a:t>
            </a:r>
            <a:endParaRPr lang="en-US" sz="1200" dirty="0">
              <a:solidFill>
                <a:srgbClr val="1A2B4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840480" cy="731520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4937760" y="10058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</a:t>
            </a:r>
            <a:r>
              <a:rPr lang="en-US" b="1" dirty="0">
                <a:solidFill>
                  <a:srgbClr val="E86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14308" y="1005840"/>
            <a:ext cx="17646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AGEGR1, TRTDUR, SAFFL, ITTFL, EFFFL, DISCONFL, DURDIS</a:t>
            </a:r>
            <a:endParaRPr lang="en-US" sz="900" dirty="0">
              <a:solidFill>
                <a:srgbClr val="1A2B42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012188"/>
            <a:ext cx="320040" cy="32004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40080" y="20121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94183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Interpreter parses YAML, flags DURDIS as underspecified (requires MH domain not in source — tests ambiguity handling)</a:t>
            </a:r>
            <a:endParaRPr lang="en-US" sz="1100" dirty="0">
              <a:solidFill>
                <a:srgbClr val="1A2B42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46FD44F-48BB-B0B4-4BA8-BB770F5C2BBC}"/>
              </a:ext>
            </a:extLst>
          </p:cNvPr>
          <p:cNvGrpSpPr/>
          <p:nvPr/>
        </p:nvGrpSpPr>
        <p:grpSpPr>
          <a:xfrm>
            <a:off x="640080" y="2417142"/>
            <a:ext cx="320040" cy="337512"/>
            <a:chOff x="640080" y="2515108"/>
            <a:chExt cx="320040" cy="337512"/>
          </a:xfrm>
        </p:grpSpPr>
        <p:sp>
          <p:nvSpPr>
            <p:cNvPr id="12" name="Shape 10"/>
            <p:cNvSpPr/>
            <p:nvPr/>
          </p:nvSpPr>
          <p:spPr>
            <a:xfrm>
              <a:off x="640080" y="2532580"/>
              <a:ext cx="320040" cy="320040"/>
            </a:xfrm>
            <a:prstGeom prst="ellipse">
              <a:avLst/>
            </a:prstGeom>
            <a:solidFill>
              <a:srgbClr val="E86F33"/>
            </a:solidFill>
            <a:ln/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Text 11"/>
            <p:cNvSpPr/>
            <p:nvPr/>
          </p:nvSpPr>
          <p:spPr>
            <a:xfrm>
              <a:off x="640080" y="2515108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2</a:t>
              </a:r>
              <a:endParaRPr lang="en-US" sz="140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1097280" y="2374138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built: EFFFL depends on ITTFL + SAFFL (computed first)</a:t>
            </a:r>
            <a:endParaRPr lang="en-US" sz="1100" dirty="0">
              <a:solidFill>
                <a:srgbClr val="1A2B42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1D9118E-37C0-3F99-CF26-14454F953CBB}"/>
              </a:ext>
            </a:extLst>
          </p:cNvPr>
          <p:cNvGrpSpPr/>
          <p:nvPr/>
        </p:nvGrpSpPr>
        <p:grpSpPr>
          <a:xfrm>
            <a:off x="640080" y="2859157"/>
            <a:ext cx="320040" cy="341754"/>
            <a:chOff x="640080" y="3042031"/>
            <a:chExt cx="320040" cy="341754"/>
          </a:xfrm>
        </p:grpSpPr>
        <p:sp>
          <p:nvSpPr>
            <p:cNvPr id="15" name="Shape 13"/>
            <p:cNvSpPr/>
            <p:nvPr/>
          </p:nvSpPr>
          <p:spPr>
            <a:xfrm>
              <a:off x="640080" y="3063745"/>
              <a:ext cx="320040" cy="320040"/>
            </a:xfrm>
            <a:prstGeom prst="ellipse">
              <a:avLst/>
            </a:prstGeom>
            <a:solidFill>
              <a:srgbClr val="E86F33"/>
            </a:solidFill>
            <a:ln/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Text 14"/>
            <p:cNvSpPr/>
            <p:nvPr/>
          </p:nvSpPr>
          <p:spPr>
            <a:xfrm>
              <a:off x="640080" y="3042031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3</a:t>
              </a:r>
              <a:endParaRPr lang="en-US" sz="140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1097280" y="280367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+ QC run in parallel per variable</a:t>
            </a:r>
            <a:endParaRPr lang="en-US" sz="1100" dirty="0">
              <a:solidFill>
                <a:srgbClr val="1A2B42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C1AE261-3063-A0BE-8B03-27714461AE97}"/>
              </a:ext>
            </a:extLst>
          </p:cNvPr>
          <p:cNvGrpSpPr/>
          <p:nvPr/>
        </p:nvGrpSpPr>
        <p:grpSpPr>
          <a:xfrm>
            <a:off x="640080" y="3296761"/>
            <a:ext cx="320040" cy="341754"/>
            <a:chOff x="640080" y="3544951"/>
            <a:chExt cx="320040" cy="341754"/>
          </a:xfrm>
        </p:grpSpPr>
        <p:sp>
          <p:nvSpPr>
            <p:cNvPr id="18" name="Shape 16"/>
            <p:cNvSpPr/>
            <p:nvPr/>
          </p:nvSpPr>
          <p:spPr>
            <a:xfrm>
              <a:off x="640080" y="3566665"/>
              <a:ext cx="320040" cy="320040"/>
            </a:xfrm>
            <a:prstGeom prst="ellipse">
              <a:avLst/>
            </a:prstGeom>
            <a:solidFill>
              <a:srgbClr val="E86F33"/>
            </a:solidFill>
            <a:ln/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Text 17"/>
            <p:cNvSpPr/>
            <p:nvPr/>
          </p:nvSpPr>
          <p:spPr>
            <a:xfrm>
              <a:off x="640080" y="3544951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4</a:t>
              </a:r>
              <a:endParaRPr lang="en-US" sz="1400" dirty="0"/>
            </a:p>
          </p:txBody>
        </p:sp>
      </p:grpSp>
      <p:sp>
        <p:nvSpPr>
          <p:cNvPr id="20" name="Text 18"/>
          <p:cNvSpPr/>
          <p:nvPr/>
        </p:nvSpPr>
        <p:spPr>
          <a:xfrm>
            <a:off x="1097280" y="3260362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checks outputs against each other AND ground truth (official CDISC ADaM as reference)</a:t>
            </a:r>
            <a:endParaRPr lang="en-US" sz="1100" dirty="0">
              <a:solidFill>
                <a:srgbClr val="1A2B42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0FB161E-319C-EE19-F918-50A42913E3F8}"/>
              </a:ext>
            </a:extLst>
          </p:cNvPr>
          <p:cNvGrpSpPr/>
          <p:nvPr/>
        </p:nvGrpSpPr>
        <p:grpSpPr>
          <a:xfrm>
            <a:off x="640080" y="3723424"/>
            <a:ext cx="320040" cy="346164"/>
            <a:chOff x="640080" y="4023868"/>
            <a:chExt cx="320040" cy="346164"/>
          </a:xfrm>
        </p:grpSpPr>
        <p:sp>
          <p:nvSpPr>
            <p:cNvPr id="21" name="Shape 19"/>
            <p:cNvSpPr/>
            <p:nvPr/>
          </p:nvSpPr>
          <p:spPr>
            <a:xfrm>
              <a:off x="640080" y="4049992"/>
              <a:ext cx="320040" cy="320040"/>
            </a:xfrm>
            <a:prstGeom prst="ellipse">
              <a:avLst/>
            </a:prstGeom>
            <a:solidFill>
              <a:srgbClr val="E86F33"/>
            </a:solidFill>
            <a:ln/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Text 20"/>
            <p:cNvSpPr/>
            <p:nvPr/>
          </p:nvSpPr>
          <p:spPr>
            <a:xfrm>
              <a:off x="640080" y="4023868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5</a:t>
              </a:r>
              <a:endParaRPr lang="en-US" sz="1400" dirty="0"/>
            </a:p>
          </p:txBody>
        </p:sp>
      </p:grpSp>
      <p:sp>
        <p:nvSpPr>
          <p:cNvPr id="23" name="Text 21"/>
          <p:cNvSpPr/>
          <p:nvPr/>
        </p:nvSpPr>
        <p:spPr>
          <a:xfrm>
            <a:off x="1097280" y="368603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generates lineage report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4271552"/>
            <a:ext cx="8046720" cy="666207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5800" y="4418855"/>
            <a:ext cx="274320" cy="2743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88391" y="4326905"/>
            <a:ext cx="7315200" cy="556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validation: </a:t>
            </a: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CDISC Pilot ADSL: AGEGR1 / SAFFL / ITTFL matched exactly. TRTDUR, EFFFL, DISCONFL, DURDIS surfaced explainable discrepancies — each correctly flagged by the comparator. The comparison step catches every disagreement — that is its purpose.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3099A28F-F3DD-5250-C113-B9F1F7111B6E}"/>
              </a:ext>
            </a:extLst>
          </p:cNvPr>
          <p:cNvSpPr/>
          <p:nvPr/>
        </p:nvSpPr>
        <p:spPr>
          <a:xfrm>
            <a:off x="546608" y="1005840"/>
            <a:ext cx="45719" cy="73152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E70D669A-81B5-3F05-B91F-A041F1240921}"/>
              </a:ext>
            </a:extLst>
          </p:cNvPr>
          <p:cNvSpPr/>
          <p:nvPr/>
        </p:nvSpPr>
        <p:spPr>
          <a:xfrm>
            <a:off x="4745991" y="1005840"/>
            <a:ext cx="45719" cy="73152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4965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005840"/>
            <a:ext cx="4572000" cy="50292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105156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0" y="1005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viz, code review, HITL approval gates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17520" y="1463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>
              <a:solidFill>
                <a:srgbClr val="E86F33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1618488"/>
            <a:ext cx="4572000" cy="502920"/>
          </a:xfrm>
          <a:prstGeom prst="rect">
            <a:avLst/>
          </a:prstGeom>
          <a:solidFill>
            <a:srgbClr val="1A2B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1051560" y="16184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FastMCP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16184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MCP transports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20756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>
              <a:solidFill>
                <a:srgbClr val="E86F33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2231136"/>
            <a:ext cx="4572000" cy="502920"/>
          </a:xfrm>
          <a:prstGeom prst="rect">
            <a:avLst/>
          </a:prstGeom>
          <a:solidFill>
            <a:srgbClr val="3A4F6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1051560" y="22311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Engine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22311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PipelineInterpreter + PipelineFSM + DAG executor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268833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>
              <a:solidFill>
                <a:srgbClr val="E86F33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14400" y="2843784"/>
            <a:ext cx="4572000" cy="502920"/>
          </a:xfrm>
          <a:prstGeom prst="rect">
            <a:avLst/>
          </a:prstGeom>
          <a:solidFill>
            <a:srgbClr val="24375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1051560" y="284378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PydanticAI Agents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28437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agents, typed I/O, async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0" y="33009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>
              <a:solidFill>
                <a:srgbClr val="E86F33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14400" y="3456432"/>
            <a:ext cx="4572000" cy="502920"/>
          </a:xfrm>
          <a:prstGeom prst="rect">
            <a:avLst/>
          </a:prstGeom>
          <a:solidFill>
            <a:srgbClr val="C45A25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1051560" y="34564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AgentLens Proxy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08960" y="34564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+ guards + circuit breaker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0" y="3913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>
              <a:solidFill>
                <a:srgbClr val="E86F33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4400" y="4069080"/>
            <a:ext cx="4572000" cy="502920"/>
          </a:xfrm>
          <a:prstGeom prst="rect">
            <a:avLst/>
          </a:prstGeom>
          <a:solidFill>
            <a:srgbClr val="0F1B2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105156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Azure OpenAI / any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Properties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35040" y="1508760"/>
            <a:ext cx="137160" cy="13716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626364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1892808"/>
            <a:ext cx="137160" cy="13716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6263639" y="1847088"/>
            <a:ext cx="2743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import-linter contracts enforce boundaries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2276856"/>
            <a:ext cx="137160" cy="13716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6263640" y="2231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circular imports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35040" y="2660904"/>
            <a:ext cx="137160" cy="13716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6263640" y="26151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is pure Python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3044952"/>
            <a:ext cx="137160" cy="13716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6263640" y="2999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depend on domain only</a:t>
            </a:r>
            <a:endParaRPr lang="en-US" sz="1100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8CD8728-7438-4599-5826-E3AD154E5729}"/>
              </a:ext>
            </a:extLst>
          </p:cNvPr>
          <p:cNvCxnSpPr/>
          <p:nvPr/>
        </p:nvCxnSpPr>
        <p:spPr>
          <a:xfrm>
            <a:off x="235527" y="1563072"/>
            <a:ext cx="5250873" cy="0"/>
          </a:xfrm>
          <a:prstGeom prst="line">
            <a:avLst/>
          </a:prstGeom>
          <a:ln w="127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59A625A-A377-4A1B-437F-21AF1341200F}"/>
              </a:ext>
            </a:extLst>
          </p:cNvPr>
          <p:cNvCxnSpPr/>
          <p:nvPr/>
        </p:nvCxnSpPr>
        <p:spPr>
          <a:xfrm>
            <a:off x="227213" y="3394365"/>
            <a:ext cx="5250873" cy="0"/>
          </a:xfrm>
          <a:prstGeom prst="line">
            <a:avLst/>
          </a:prstGeom>
          <a:ln w="127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84D5239-C149-7AE3-C669-E481D19EC221}"/>
              </a:ext>
            </a:extLst>
          </p:cNvPr>
          <p:cNvCxnSpPr/>
          <p:nvPr/>
        </p:nvCxnSpPr>
        <p:spPr>
          <a:xfrm>
            <a:off x="227215" y="4003964"/>
            <a:ext cx="5250873" cy="0"/>
          </a:xfrm>
          <a:prstGeom prst="line">
            <a:avLst/>
          </a:prstGeom>
          <a:ln w="127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Text 27">
            <a:extLst>
              <a:ext uri="{FF2B5EF4-FFF2-40B4-BE49-F238E27FC236}">
                <a16:creationId xmlns:a16="http://schemas.microsoft.com/office/drawing/2014/main" id="{B6C24880-7F56-43BE-7616-7219FC38ACE6}"/>
              </a:ext>
            </a:extLst>
          </p:cNvPr>
          <p:cNvSpPr/>
          <p:nvPr/>
        </p:nvSpPr>
        <p:spPr>
          <a:xfrm rot="16200000">
            <a:off x="-83820" y="2308860"/>
            <a:ext cx="126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45" name="Text 27">
            <a:extLst>
              <a:ext uri="{FF2B5EF4-FFF2-40B4-BE49-F238E27FC236}">
                <a16:creationId xmlns:a16="http://schemas.microsoft.com/office/drawing/2014/main" id="{D3F9EA2D-B955-BD00-DA69-A79F35D41160}"/>
              </a:ext>
            </a:extLst>
          </p:cNvPr>
          <p:cNvSpPr/>
          <p:nvPr/>
        </p:nvSpPr>
        <p:spPr>
          <a:xfrm rot="16200000">
            <a:off x="260050" y="3571284"/>
            <a:ext cx="577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100" dirty="0"/>
          </a:p>
        </p:txBody>
      </p:sp>
      <p:sp>
        <p:nvSpPr>
          <p:cNvPr id="46" name="Text 27">
            <a:extLst>
              <a:ext uri="{FF2B5EF4-FFF2-40B4-BE49-F238E27FC236}">
                <a16:creationId xmlns:a16="http://schemas.microsoft.com/office/drawing/2014/main" id="{C1DD2E82-DA33-F375-52D0-A7A0FB57CF91}"/>
              </a:ext>
            </a:extLst>
          </p:cNvPr>
          <p:cNvSpPr/>
          <p:nvPr/>
        </p:nvSpPr>
        <p:spPr>
          <a:xfrm rot="16200000">
            <a:off x="260050" y="4178905"/>
            <a:ext cx="577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BCEEC748-9349-D31C-7CDC-EBCFED47C65E}"/>
              </a:ext>
            </a:extLst>
          </p:cNvPr>
          <p:cNvSpPr/>
          <p:nvPr/>
        </p:nvSpPr>
        <p:spPr>
          <a:xfrm rot="16200000">
            <a:off x="260050" y="1088412"/>
            <a:ext cx="577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Prototype Boundaries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20624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ADSL only — BDS (longitudinal) is the natural extension beyond the assignment scope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420624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specs only — production needs PDF/Word parsing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420624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study — memory architecture supports multi-study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420624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CDISC conformance — Pinnacle 21 integration needed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420624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731520" y="3429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guards are rule-based (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AgentLens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proxy + custom rules)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2064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Could Build Next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20640" y="1463040"/>
            <a:ext cx="320040" cy="32004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512064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77840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 support (ADAE, ADLB — one row per patient/visit/parameter)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20640" y="2103120"/>
            <a:ext cx="320040" cy="32004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5120640" y="2103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7784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spec parsing (SAP → YAML → engine)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20640" y="2743200"/>
            <a:ext cx="320040" cy="32004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512064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Multi-study pattern learning (cross-study long-term memory)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20640" y="3383280"/>
            <a:ext cx="320040" cy="32004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512064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7784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CDISC conformance post-check (Pinnacle 21 integration)</a:t>
            </a:r>
            <a:endParaRPr lang="en-US" sz="1050" dirty="0"/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3C3CA4AF-129F-BE86-1F9F-944A8ECDB15F}"/>
              </a:ext>
            </a:extLst>
          </p:cNvPr>
          <p:cNvSpPr/>
          <p:nvPr/>
        </p:nvSpPr>
        <p:spPr>
          <a:xfrm>
            <a:off x="548641" y="1417320"/>
            <a:ext cx="45719" cy="41148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40F70658-BF88-F3A9-D0D7-E90BA7987573}"/>
              </a:ext>
            </a:extLst>
          </p:cNvPr>
          <p:cNvSpPr/>
          <p:nvPr/>
        </p:nvSpPr>
        <p:spPr>
          <a:xfrm>
            <a:off x="548640" y="1920240"/>
            <a:ext cx="45719" cy="41148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AF80CC52-4E3C-D520-2AE5-CDA055884C1B}"/>
              </a:ext>
            </a:extLst>
          </p:cNvPr>
          <p:cNvSpPr/>
          <p:nvPr/>
        </p:nvSpPr>
        <p:spPr>
          <a:xfrm>
            <a:off x="548640" y="2423160"/>
            <a:ext cx="45719" cy="41148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991EBF2B-6031-2B99-27B5-EFC314B92BC8}"/>
              </a:ext>
            </a:extLst>
          </p:cNvPr>
          <p:cNvSpPr/>
          <p:nvPr/>
        </p:nvSpPr>
        <p:spPr>
          <a:xfrm>
            <a:off x="543560" y="2921000"/>
            <a:ext cx="45719" cy="41148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1CE1AA4E-A771-0398-C044-5E54F255888A}"/>
              </a:ext>
            </a:extLst>
          </p:cNvPr>
          <p:cNvSpPr/>
          <p:nvPr/>
        </p:nvSpPr>
        <p:spPr>
          <a:xfrm>
            <a:off x="543560" y="3429000"/>
            <a:ext cx="45719" cy="41148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656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Questions?</a:t>
            </a:r>
            <a:endParaRPr lang="en-US" sz="4000" dirty="0">
              <a:solidFill>
                <a:srgbClr val="1A2B4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100584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4864" cy="100584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"Science sans conscience n'est que ruine de </a:t>
            </a:r>
            <a:r>
              <a:rPr lang="en-US" sz="1600" i="1" dirty="0" err="1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l’âme</a:t>
            </a:r>
            <a:r>
              <a:rPr lang="en-US" sz="1600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Rabelais</a:t>
            </a:r>
            <a:endParaRPr lang="en-US" sz="1200" dirty="0">
              <a:solidFill>
                <a:srgbClr val="1A2B4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clinical AI, conscience is not philosophy.</a:t>
            </a:r>
            <a:endParaRPr lang="en-US" sz="1400" dirty="0">
              <a:solidFill>
                <a:srgbClr val="1A2B42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double programming, human gates, append-only audit trails,</a:t>
            </a:r>
            <a:endParaRPr lang="en-US" sz="1400" dirty="0">
              <a:solidFill>
                <a:srgbClr val="1A2B42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agents that never see patient data.</a:t>
            </a:r>
            <a:endParaRPr lang="en-US" sz="1400" dirty="0">
              <a:solidFill>
                <a:srgbClr val="1A2B42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7680960" cy="36576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https://github.com/matt-grain/pharma-derive</a:t>
            </a:r>
          </a:p>
        </p:txBody>
      </p:sp>
    </p:spTree>
    <p:extLst>
      <p:ext uri="{BB962C8B-B14F-4D97-AF65-F5344CB8AC3E}">
        <p14:creationId xmlns:p14="http://schemas.microsoft.com/office/powerpoint/2010/main" val="2432147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1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0319BD-C4EA-2E0A-69A5-6F0709EAC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AA005A-F66B-01BA-BD0A-8C31BC3A0E01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3C328C-4A9D-94A9-5FCA-65EBCBE77EF0}"/>
              </a:ext>
            </a:extLst>
          </p:cNvPr>
          <p:cNvSpPr/>
          <p:nvPr/>
        </p:nvSpPr>
        <p:spPr>
          <a:xfrm>
            <a:off x="509451" y="3497581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Details</a:t>
            </a:r>
            <a:endParaRPr lang="en-US" sz="3600" dirty="0">
              <a:solidFill>
                <a:srgbClr val="1A2B42"/>
              </a:solidFill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9A0967B9-E534-1789-C645-789649EC3AF6}"/>
              </a:ext>
            </a:extLst>
          </p:cNvPr>
          <p:cNvSpPr/>
          <p:nvPr/>
        </p:nvSpPr>
        <p:spPr>
          <a:xfrm>
            <a:off x="6858000" y="457200"/>
            <a:ext cx="2011680" cy="914400"/>
          </a:xfrm>
          <a:prstGeom prst="rect">
            <a:avLst/>
          </a:prstGeom>
          <a:solidFill>
            <a:srgbClr val="F0F1F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561CF59-2CDB-265D-E125-6586F6DDD42E}"/>
              </a:ext>
            </a:extLst>
          </p:cNvPr>
          <p:cNvSpPr/>
          <p:nvPr/>
        </p:nvSpPr>
        <p:spPr>
          <a:xfrm>
            <a:off x="6858000" y="4754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6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CDDE</a:t>
            </a:r>
            <a:endParaRPr lang="en-US" sz="28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E9045EF-0921-40BF-F0C2-32F4E2218411}"/>
              </a:ext>
            </a:extLst>
          </p:cNvPr>
          <p:cNvSpPr/>
          <p:nvPr/>
        </p:nvSpPr>
        <p:spPr>
          <a:xfrm>
            <a:off x="6858000" y="960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Prototype</a:t>
            </a:r>
            <a:endParaRPr lang="en-US" sz="1000" dirty="0">
              <a:solidFill>
                <a:srgbClr val="1A2B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98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Roles</a:t>
            </a:r>
            <a:endParaRPr lang="en-US" sz="3600" dirty="0">
              <a:solidFill>
                <a:srgbClr val="1A2B42"/>
              </a:solidFill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959637"/>
              </p:ext>
            </p:extLst>
          </p:nvPr>
        </p:nvGraphicFramePr>
        <p:xfrm>
          <a:off x="548640" y="1005840"/>
          <a:ext cx="8046720" cy="24688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F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F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Separate?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86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Interpreter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SpecInterpretation</a:t>
                      </a:r>
                      <a:endParaRPr lang="en-US" sz="1100" dirty="0">
                        <a:solidFill>
                          <a:srgbClr val="1A2B4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understanding ≠ code generation</a:t>
                      </a:r>
                      <a:endParaRPr lang="en-US" sz="1100" dirty="0">
                        <a:solidFill>
                          <a:srgbClr val="1A2B4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86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Derivation 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DerivationCode</a:t>
                      </a:r>
                      <a:endParaRPr lang="en-US" sz="1100" dirty="0">
                        <a:solidFill>
                          <a:srgbClr val="1A2B4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programmer (regulatory role)</a:t>
                      </a:r>
                      <a:endParaRPr lang="en-US" sz="1100" dirty="0">
                        <a:solidFill>
                          <a:srgbClr val="1A2B4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86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 Programmer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DerivationCode</a:t>
                      </a:r>
                      <a:endParaRPr lang="en-US" sz="1100" dirty="0">
                        <a:solidFill>
                          <a:srgbClr val="1A2B4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NOT see primary code (ICH E6)</a:t>
                      </a:r>
                      <a:endParaRPr lang="en-US" sz="1100" dirty="0">
                        <a:solidFill>
                          <a:srgbClr val="1A2B4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86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DebugAnalysis</a:t>
                      </a:r>
                      <a:endParaRPr lang="en-US" sz="1100" dirty="0">
                        <a:solidFill>
                          <a:srgbClr val="1A2B4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Debugging ≠ generation (no self-grading)</a:t>
                      </a:r>
                      <a:endParaRPr lang="en-US" sz="1100" dirty="0">
                        <a:solidFill>
                          <a:srgbClr val="1A2B4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86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AuditSummary</a:t>
                      </a:r>
                      <a:endParaRPr lang="en-US" sz="1100" dirty="0">
                        <a:solidFill>
                          <a:srgbClr val="1A2B4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review is independent</a:t>
                      </a:r>
                      <a:endParaRPr lang="en-US" sz="1100" dirty="0">
                        <a:solidFill>
                          <a:srgbClr val="1A2B4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Text 3"/>
          <p:cNvSpPr/>
          <p:nvPr/>
        </p:nvSpPr>
        <p:spPr>
          <a:xfrm>
            <a:off x="777240" y="38404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produce validated Pydantic output types
</a:t>
            </a:r>
            <a:endParaRPr lang="en-US" sz="1200" dirty="0">
              <a:solidFill>
                <a:srgbClr val="1A2B42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PydanticAI retries automatically on malformed LLM responses</a:t>
            </a:r>
            <a:endParaRPr lang="en-US" sz="1200" dirty="0">
              <a:solidFill>
                <a:srgbClr val="1A2B42"/>
              </a:solidFill>
            </a:endParaRPr>
          </a:p>
        </p:txBody>
      </p:sp>
      <p:sp>
        <p:nvSpPr>
          <p:cNvPr id="7" name="Shape 17">
            <a:extLst>
              <a:ext uri="{FF2B5EF4-FFF2-40B4-BE49-F238E27FC236}">
                <a16:creationId xmlns:a16="http://schemas.microsoft.com/office/drawing/2014/main" id="{12568B8D-7911-6D51-88F6-CC6B73761D9E}"/>
              </a:ext>
            </a:extLst>
          </p:cNvPr>
          <p:cNvSpPr/>
          <p:nvPr/>
        </p:nvSpPr>
        <p:spPr>
          <a:xfrm>
            <a:off x="548640" y="3840480"/>
            <a:ext cx="45719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Orchestration: 5 Patterns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65760" cy="36576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051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400" dirty="0">
              <a:solidFill>
                <a:srgbClr val="1A2B4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840480" y="1051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→ DAG → Derive → Audit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27048"/>
            <a:ext cx="804672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365760" cy="36576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486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/ Fan-in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variables in parallel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075688"/>
            <a:ext cx="804672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365760" cy="36576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+ Compare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+ QC on same variable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624328"/>
            <a:ext cx="804672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54864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+ Escalation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4048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mismatch → Debugger → Human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172968"/>
            <a:ext cx="804672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548640" y="3291840"/>
            <a:ext cx="365760" cy="36576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3246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40480" y="3246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deep review gate: per-variable approve/reject + free-form override + cross-run feedback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8046720" cy="91440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777240" y="39776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 orchestration?  </a:t>
            </a: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PydanticAI provides agent abstractions. But which agents run in parallel, when to pause for human review, and how to handle QC failures — that is domain logic. asyncio.gather for parallelism. python-statemachine for the FSM.</a:t>
            </a:r>
            <a:endParaRPr lang="en-US" sz="1200" dirty="0">
              <a:solidFill>
                <a:srgbClr val="1A2B42"/>
              </a:solidFill>
            </a:endParaRPr>
          </a:p>
        </p:txBody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77FA43DA-2F96-5236-3F8C-6B472C8DE11C}"/>
              </a:ext>
            </a:extLst>
          </p:cNvPr>
          <p:cNvSpPr/>
          <p:nvPr/>
        </p:nvSpPr>
        <p:spPr>
          <a:xfrm>
            <a:off x="548640" y="3931920"/>
            <a:ext cx="45719" cy="9144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DAG: Enhanced Dependency Graph</a:t>
            </a:r>
            <a:endParaRPr lang="en-US" sz="3200" dirty="0">
              <a:solidFill>
                <a:srgbClr val="1A2B42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864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purposes simultaneously:</a:t>
            </a:r>
            <a:endParaRPr lang="en-US" sz="1300" dirty="0">
              <a:solidFill>
                <a:srgbClr val="1A2B42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8640" y="4114800"/>
            <a:ext cx="274320" cy="27432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54864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4069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engine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" y="4297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sort → correct computation order</a:t>
            </a:r>
            <a:endParaRPr lang="en-US" sz="1000" dirty="0">
              <a:solidFill>
                <a:srgbClr val="1A2B42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383280" y="4114800"/>
            <a:ext cx="274320" cy="27432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338328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749040" y="4069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49040" y="4297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derivation traceable to source, logic, agent, approval</a:t>
            </a:r>
            <a:endParaRPr lang="en-US" sz="1000" dirty="0">
              <a:solidFill>
                <a:srgbClr val="1A2B42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217920" y="4114800"/>
            <a:ext cx="274320" cy="274320"/>
          </a:xfrm>
          <a:prstGeom prst="ellipse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621792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83680" y="4069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tool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83680" y="4297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QC fails, the graph shows exactly where</a:t>
            </a:r>
            <a:endParaRPr lang="en-US" sz="1000" dirty="0">
              <a:solidFill>
                <a:srgbClr val="1A2B42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D012D8E-1F92-595A-D489-AA43ED59DBC7}"/>
              </a:ext>
            </a:extLst>
          </p:cNvPr>
          <p:cNvGrpSpPr/>
          <p:nvPr/>
        </p:nvGrpSpPr>
        <p:grpSpPr>
          <a:xfrm>
            <a:off x="498736" y="1366709"/>
            <a:ext cx="8146527" cy="1970851"/>
            <a:chOff x="822960" y="1577021"/>
            <a:chExt cx="6239108" cy="1509398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5A5B1A76-BA52-9137-366B-AB3EEF33C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" y="1577021"/>
              <a:ext cx="6239108" cy="1509398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CDDC4689-329C-631B-3FA9-4DD9A76A2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7751" y="2729162"/>
              <a:ext cx="928868" cy="35725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4302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Programming: Regulatory Pattern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0" y="1005840"/>
            <a:ext cx="3657600" cy="457200"/>
          </a:xfrm>
          <a:prstGeom prst="rect">
            <a:avLst/>
          </a:prstGeom>
          <a:solidFill>
            <a:srgbClr val="3A4F6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Rule (from spec)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810512"/>
            <a:ext cx="1752600" cy="457200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2743200" y="18105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Agent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8200" y="1810512"/>
            <a:ext cx="1752600" cy="457200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572000" y="18105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Agent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2267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2267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(isolated context)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2743200"/>
            <a:ext cx="3657600" cy="457200"/>
          </a:xfrm>
          <a:prstGeom prst="rect">
            <a:avLst/>
          </a:prstGeom>
          <a:solidFill>
            <a:srgbClr val="E86F33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274320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Comparison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40903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240903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566160"/>
            <a:ext cx="1828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914400" y="3566160"/>
            <a:ext cx="54864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1051560" y="3584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840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3566160"/>
            <a:ext cx="1828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3657600" y="3566160"/>
            <a:ext cx="54864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3794760" y="3584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94760" y="3840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Debugger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3566160"/>
            <a:ext cx="1828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6400800" y="3566160"/>
            <a:ext cx="54864" cy="594360"/>
          </a:xfrm>
          <a:prstGeom prst="rect">
            <a:avLst/>
          </a:prstGeom>
          <a:solidFill>
            <a:srgbClr val="C45A25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6537960" y="3584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SIMILAR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37960" y="3840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 AST → re-run QC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use asyncio.gather — true parallel execution, isolated contexts.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42"/>
                </a:solidFill>
                <a:latin typeface="Georgia" pitchFamily="34" charset="0"/>
              </a:rPr>
              <a:t>Data</a:t>
            </a:r>
            <a:r>
              <a:rPr lang="en-US" sz="3000" b="1" dirty="0">
                <a:solidFill>
                  <a:srgbClr val="1A2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Security: Dual-Dataset Architecture</a:t>
            </a:r>
            <a:endParaRPr lang="en-US" sz="3000" dirty="0">
              <a:solidFill>
                <a:srgbClr val="1A2B4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606040" cy="237744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20" y="1234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(prompts)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16916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</a:t>
            </a:r>
            <a:endParaRPr lang="en-US" sz="1000" dirty="0">
              <a:solidFill>
                <a:srgbClr val="E86F33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synthetic reference</a:t>
            </a:r>
            <a:endParaRPr lang="en-US" sz="1100" dirty="0">
              <a:solidFill>
                <a:srgbClr val="1A2B42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(10-20 fake rows)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31520" y="2560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000" dirty="0">
              <a:solidFill>
                <a:srgbClr val="E86F33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52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data shape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3383280" y="1051560"/>
            <a:ext cx="2606040" cy="237744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66160" y="12344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(local)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66160" y="16916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</a:t>
            </a:r>
            <a:endParaRPr lang="en-US" sz="1000" dirty="0">
              <a:solidFill>
                <a:srgbClr val="E86F33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3566160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SDTM data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3566160" y="2560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000" dirty="0">
              <a:solidFill>
                <a:srgbClr val="E86F33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356616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code,</a:t>
            </a:r>
            <a:endParaRPr lang="en-US" sz="1100" dirty="0">
              <a:solidFill>
                <a:srgbClr val="1A2B42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aggregates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217920" y="1051560"/>
            <a:ext cx="2606040" cy="237744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00800" y="123444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1228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(results)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00800" y="16916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</a:t>
            </a:r>
            <a:endParaRPr lang="en-US" sz="1000" dirty="0">
              <a:solidFill>
                <a:srgbClr val="E86F33"/>
              </a:solidFill>
            </a:endParaRPr>
          </a:p>
        </p:txBody>
      </p:sp>
      <p:sp>
        <p:nvSpPr>
          <p:cNvPr id="22" name="Text 17"/>
          <p:cNvSpPr/>
          <p:nvPr/>
        </p:nvSpPr>
        <p:spPr>
          <a:xfrm>
            <a:off x="6400800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 nulls in AGE"</a:t>
            </a:r>
            <a:endParaRPr lang="en-US" sz="1100" dirty="0">
              <a:solidFill>
                <a:srgbClr val="1A2B42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"QC: 3 rows diverge"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23" name="Text 18"/>
          <p:cNvSpPr/>
          <p:nvPr/>
        </p:nvSpPr>
        <p:spPr>
          <a:xfrm>
            <a:off x="6400800" y="2560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000" dirty="0">
              <a:solidFill>
                <a:srgbClr val="E86F33"/>
              </a:solidFill>
            </a:endParaRPr>
          </a:p>
        </p:txBody>
      </p:sp>
      <p:sp>
        <p:nvSpPr>
          <p:cNvPr id="24" name="Text 19"/>
          <p:cNvSpPr/>
          <p:nvPr/>
        </p:nvSpPr>
        <p:spPr>
          <a:xfrm>
            <a:off x="640080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raw patient rows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25" name="Shape 20"/>
          <p:cNvSpPr/>
          <p:nvPr/>
        </p:nvSpPr>
        <p:spPr>
          <a:xfrm>
            <a:off x="548640" y="3749040"/>
            <a:ext cx="8275320" cy="4572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1"/>
          <p:cNvSpPr/>
          <p:nvPr/>
        </p:nvSpPr>
        <p:spPr>
          <a:xfrm>
            <a:off x="777240" y="3749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need data shape, not data content.  Not a demo constraint — the correct production architecture for pharma.</a:t>
            </a:r>
            <a:endParaRPr lang="en-US" sz="1200" dirty="0">
              <a:solidFill>
                <a:srgbClr val="3A4F6A"/>
              </a:solidFill>
            </a:endParaRPr>
          </a:p>
        </p:txBody>
      </p:sp>
      <p:sp>
        <p:nvSpPr>
          <p:cNvPr id="27" name="Text 22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inspect_data tool is the security gate: column names, dtypes, null counts, value ranges. Never raw rows, never USUBJID-level data.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787FF3A4-F35B-2441-2662-A23FBF6F04F7}"/>
              </a:ext>
            </a:extLst>
          </p:cNvPr>
          <p:cNvSpPr/>
          <p:nvPr/>
        </p:nvSpPr>
        <p:spPr>
          <a:xfrm>
            <a:off x="538480" y="1051560"/>
            <a:ext cx="54864" cy="237744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034E87C0-CE0C-FB8C-640D-456B1B105389}"/>
              </a:ext>
            </a:extLst>
          </p:cNvPr>
          <p:cNvSpPr/>
          <p:nvPr/>
        </p:nvSpPr>
        <p:spPr>
          <a:xfrm>
            <a:off x="3383280" y="1051560"/>
            <a:ext cx="54864" cy="237744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6BBCCFBA-968A-2734-6CD6-7A85B043FFAD}"/>
              </a:ext>
            </a:extLst>
          </p:cNvPr>
          <p:cNvSpPr/>
          <p:nvPr/>
        </p:nvSpPr>
        <p:spPr>
          <a:xfrm>
            <a:off x="6217920" y="1052068"/>
            <a:ext cx="54864" cy="237744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51E14D16-232C-5031-E116-397FC4B06454}"/>
              </a:ext>
            </a:extLst>
          </p:cNvPr>
          <p:cNvSpPr/>
          <p:nvPr/>
        </p:nvSpPr>
        <p:spPr>
          <a:xfrm>
            <a:off x="548640" y="374904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</a:t>
            </a:r>
            <a:endParaRPr lang="en-US" sz="3600" dirty="0">
              <a:solidFill>
                <a:srgbClr val="1A2B42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6655BA2-62C1-AB6E-38B0-3DF4E0928778}"/>
              </a:ext>
            </a:extLst>
          </p:cNvPr>
          <p:cNvGrpSpPr/>
          <p:nvPr/>
        </p:nvGrpSpPr>
        <p:grpSpPr>
          <a:xfrm>
            <a:off x="594360" y="1024128"/>
            <a:ext cx="457200" cy="484908"/>
            <a:chOff x="548640" y="1143000"/>
            <a:chExt cx="457200" cy="484908"/>
          </a:xfrm>
        </p:grpSpPr>
        <p:sp>
          <p:nvSpPr>
            <p:cNvPr id="4" name="Shape 2"/>
            <p:cNvSpPr/>
            <p:nvPr/>
          </p:nvSpPr>
          <p:spPr>
            <a:xfrm>
              <a:off x="548640" y="1170708"/>
              <a:ext cx="457200" cy="457200"/>
            </a:xfrm>
            <a:prstGeom prst="ellipse">
              <a:avLst/>
            </a:prstGeom>
            <a:solidFill>
              <a:srgbClr val="E86F33"/>
            </a:solidFill>
            <a:ln/>
          </p:spPr>
          <p:txBody>
            <a:bodyPr anchor="ctr"/>
            <a:lstStyle/>
            <a:p>
              <a:pPr algn="ctr"/>
              <a:endParaRPr lang="en-CA"/>
            </a:p>
          </p:txBody>
        </p:sp>
        <p:sp>
          <p:nvSpPr>
            <p:cNvPr id="5" name="Text 3"/>
            <p:cNvSpPr/>
            <p:nvPr/>
          </p:nvSpPr>
          <p:spPr>
            <a:xfrm>
              <a:off x="548640" y="11430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 anchorCtr="1">
              <a:no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</a:t>
              </a:r>
              <a:endParaRPr lang="en-US" sz="2000" dirty="0"/>
            </a:p>
          </p:txBody>
        </p:sp>
      </p:grpSp>
      <p:sp>
        <p:nvSpPr>
          <p:cNvPr id="6" name="Shape 4"/>
          <p:cNvSpPr/>
          <p:nvPr/>
        </p:nvSpPr>
        <p:spPr>
          <a:xfrm>
            <a:off x="1280160" y="1051560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1463040" y="919945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15392" y="919945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One-click approval, optional free-text reason </a:t>
            </a:r>
            <a:endParaRPr lang="en-US" sz="11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1F6BFA8-3477-3606-8CEE-7071A1E03AF4}"/>
              </a:ext>
            </a:extLst>
          </p:cNvPr>
          <p:cNvGrpSpPr/>
          <p:nvPr/>
        </p:nvGrpSpPr>
        <p:grpSpPr>
          <a:xfrm>
            <a:off x="594360" y="1604223"/>
            <a:ext cx="457200" cy="477981"/>
            <a:chOff x="548640" y="2036619"/>
            <a:chExt cx="457200" cy="477981"/>
          </a:xfrm>
        </p:grpSpPr>
        <p:sp>
          <p:nvSpPr>
            <p:cNvPr id="10" name="Shape 8"/>
            <p:cNvSpPr/>
            <p:nvPr/>
          </p:nvSpPr>
          <p:spPr>
            <a:xfrm>
              <a:off x="548640" y="2057400"/>
              <a:ext cx="457200" cy="457200"/>
            </a:xfrm>
            <a:prstGeom prst="ellipse">
              <a:avLst/>
            </a:prstGeom>
            <a:solidFill>
              <a:srgbClr val="E86F33"/>
            </a:solidFill>
            <a:ln/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Text 9"/>
            <p:cNvSpPr/>
            <p:nvPr/>
          </p:nvSpPr>
          <p:spPr>
            <a:xfrm>
              <a:off x="548640" y="2036619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2</a:t>
              </a:r>
              <a:endParaRPr lang="en-US" sz="200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1280160" y="1647305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1463040" y="152954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Per-variable review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5392" y="1529546"/>
            <a:ext cx="4739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Accept/reject each derivation individually — partial approval supported</a:t>
            </a:r>
            <a:endParaRPr lang="en-US" sz="11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5791B00-8C87-54BB-845D-055168D79505}"/>
              </a:ext>
            </a:extLst>
          </p:cNvPr>
          <p:cNvGrpSpPr/>
          <p:nvPr/>
        </p:nvGrpSpPr>
        <p:grpSpPr>
          <a:xfrm>
            <a:off x="594360" y="2193042"/>
            <a:ext cx="457200" cy="498762"/>
            <a:chOff x="548640" y="2971800"/>
            <a:chExt cx="457200" cy="498762"/>
          </a:xfrm>
        </p:grpSpPr>
        <p:sp>
          <p:nvSpPr>
            <p:cNvPr id="16" name="Shape 14"/>
            <p:cNvSpPr/>
            <p:nvPr/>
          </p:nvSpPr>
          <p:spPr>
            <a:xfrm>
              <a:off x="548640" y="3013362"/>
              <a:ext cx="457200" cy="457200"/>
            </a:xfrm>
            <a:prstGeom prst="ellipse">
              <a:avLst/>
            </a:prstGeom>
            <a:solidFill>
              <a:srgbClr val="E86F33"/>
            </a:solidFill>
            <a:ln/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Text 15"/>
            <p:cNvSpPr/>
            <p:nvPr/>
          </p:nvSpPr>
          <p:spPr>
            <a:xfrm>
              <a:off x="548640" y="29718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3</a:t>
              </a:r>
              <a:endParaRPr lang="en-US" sz="2000" dirty="0"/>
            </a:p>
          </p:txBody>
        </p:sp>
      </p:grpSp>
      <p:sp>
        <p:nvSpPr>
          <p:cNvPr id="18" name="Shape 16"/>
          <p:cNvSpPr/>
          <p:nvPr/>
        </p:nvSpPr>
        <p:spPr>
          <a:xfrm>
            <a:off x="1280160" y="2243048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1463040" y="2111433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generated logic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15392" y="2111433"/>
            <a:ext cx="4739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any variable's code in-place; re-executed and persisted </a:t>
            </a:r>
            <a:endParaRPr lang="en-US" sz="11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5F7FCFC-0AE4-1935-D56E-C4C028A10F0B}"/>
              </a:ext>
            </a:extLst>
          </p:cNvPr>
          <p:cNvGrpSpPr/>
          <p:nvPr/>
        </p:nvGrpSpPr>
        <p:grpSpPr>
          <a:xfrm>
            <a:off x="594360" y="2811086"/>
            <a:ext cx="457200" cy="498762"/>
            <a:chOff x="548640" y="3886200"/>
            <a:chExt cx="457200" cy="498762"/>
          </a:xfrm>
        </p:grpSpPr>
        <p:sp>
          <p:nvSpPr>
            <p:cNvPr id="22" name="Shape 20"/>
            <p:cNvSpPr/>
            <p:nvPr/>
          </p:nvSpPr>
          <p:spPr>
            <a:xfrm>
              <a:off x="548640" y="3927762"/>
              <a:ext cx="457200" cy="457200"/>
            </a:xfrm>
            <a:prstGeom prst="ellipse">
              <a:avLst/>
            </a:prstGeom>
            <a:solidFill>
              <a:srgbClr val="E86F33"/>
            </a:solidFill>
            <a:ln/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Text 21"/>
            <p:cNvSpPr/>
            <p:nvPr/>
          </p:nvSpPr>
          <p:spPr>
            <a:xfrm>
              <a:off x="548640" y="38862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4</a:t>
              </a:r>
              <a:endParaRPr lang="en-US" sz="2000" dirty="0"/>
            </a:p>
          </p:txBody>
        </p:sp>
      </p:grpSp>
      <p:sp>
        <p:nvSpPr>
          <p:cNvPr id="24" name="Shape 22"/>
          <p:cNvSpPr/>
          <p:nvPr/>
        </p:nvSpPr>
        <p:spPr>
          <a:xfrm>
            <a:off x="1280160" y="2845727"/>
            <a:ext cx="7315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1463040" y="27141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run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15392" y="2714112"/>
            <a:ext cx="4739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workflow with mandatory reason — written to feedback memory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(primary) with DB-backed approval state  •  Human feedback stored in long-term memory for future runs</a:t>
            </a:r>
            <a:endParaRPr lang="en-US" sz="1100" dirty="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7CDF14EB-D476-BA74-3CCA-72F6D1DB24B3}"/>
              </a:ext>
            </a:extLst>
          </p:cNvPr>
          <p:cNvSpPr/>
          <p:nvPr/>
        </p:nvSpPr>
        <p:spPr>
          <a:xfrm>
            <a:off x="548639" y="3819703"/>
            <a:ext cx="8046719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9094A8F8-6096-6433-48C8-74CF353A597D}"/>
              </a:ext>
            </a:extLst>
          </p:cNvPr>
          <p:cNvSpPr/>
          <p:nvPr/>
        </p:nvSpPr>
        <p:spPr>
          <a:xfrm>
            <a:off x="731520" y="368808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</a:t>
            </a:r>
            <a:endParaRPr lang="en-US" sz="1400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8FBF68F8-26AE-DD7D-542A-A75B199B2759}"/>
              </a:ext>
            </a:extLst>
          </p:cNvPr>
          <p:cNvSpPr/>
          <p:nvPr/>
        </p:nvSpPr>
        <p:spPr>
          <a:xfrm>
            <a:off x="1558637" y="3688088"/>
            <a:ext cx="57648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→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FeedbackRepository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surfaced to future runs via pattern retrieval</a:t>
            </a:r>
            <a:endParaRPr lang="en-US" sz="1100" dirty="0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D16A7A53-F07A-C1F2-E5FB-26BA669FC909}"/>
              </a:ext>
            </a:extLst>
          </p:cNvPr>
          <p:cNvSpPr/>
          <p:nvPr/>
        </p:nvSpPr>
        <p:spPr>
          <a:xfrm>
            <a:off x="539496" y="3819703"/>
            <a:ext cx="54864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Memory: Short-Term + Long-Term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931920" cy="276932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931920" cy="411480"/>
          </a:xfrm>
          <a:prstGeom prst="rect">
            <a:avLst/>
          </a:prstGeom>
          <a:solidFill>
            <a:srgbClr val="3A4F6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Memory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5544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workflow run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0299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workflow_states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50545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50545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state, DAG snapshot, spec path, pending approvals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98094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298094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backend restarts;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for audit + restart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45643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4564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workflow_id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3931920" cy="276932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489204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15544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15544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Cross-run knowledge base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0299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20299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patterns,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qc_history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feedback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50545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250545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patterns, human, Feedback and QC history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298094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298094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and grows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45643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34564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variable type + spec similarity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5577" y="3918857"/>
            <a:ext cx="8046720" cy="1077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generating code: agent tools query long-term memory for matching patterns.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50" dirty="0" err="1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query_patterns</a:t>
            </a:r>
            <a:r>
              <a:rPr lang="en-CA" sz="105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CA" sz="1050" dirty="0" err="1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variable_type</a:t>
            </a:r>
            <a:r>
              <a:rPr lang="en-CA" sz="105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 — prior validated implementations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50" dirty="0" err="1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query_feedback</a:t>
            </a:r>
            <a:r>
              <a:rPr lang="en-CA" sz="105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(variable) — human reviewer decisions (STRONGEST signal)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50" dirty="0" err="1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query_qc_history</a:t>
            </a:r>
            <a:r>
              <a:rPr lang="en-CA" sz="1050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(variable) — coder/QC verdict pairs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Traceability: 3-Layer Audit Architecture</a:t>
            </a:r>
            <a:endParaRPr lang="en-US" sz="3000" dirty="0">
              <a:solidFill>
                <a:srgbClr val="1A2B4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606040" cy="1147318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20" y="12801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Trajectory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6270" y="1584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AgentLens (OTel proxy)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36270" y="159639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call, tool use, response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3383280" y="1097280"/>
            <a:ext cx="2606040" cy="1147318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66160" y="12801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7764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70910" y="1584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loguru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470910" y="159639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transitions, DAG progress, timing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217920" y="1097280"/>
            <a:ext cx="2606040" cy="1147318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00800" y="12801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1228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Audit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305550" y="1584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(audit/trail.py)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305550" y="1596390"/>
            <a:ext cx="24765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Lineage, provenance, approvals, QC results</a:t>
            </a:r>
            <a:endParaRPr lang="en-US" sz="1100" dirty="0">
              <a:solidFill>
                <a:srgbClr val="1A2B42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80F774C-94A2-DC72-A183-CE82DC827B26}"/>
              </a:ext>
            </a:extLst>
          </p:cNvPr>
          <p:cNvGrpSpPr/>
          <p:nvPr/>
        </p:nvGrpSpPr>
        <p:grpSpPr>
          <a:xfrm>
            <a:off x="554990" y="3884749"/>
            <a:ext cx="8275320" cy="1005840"/>
            <a:chOff x="548640" y="3383280"/>
            <a:chExt cx="8046720" cy="1005840"/>
          </a:xfrm>
        </p:grpSpPr>
        <p:sp>
          <p:nvSpPr>
            <p:cNvPr id="19" name="Shape 14"/>
            <p:cNvSpPr/>
            <p:nvPr/>
          </p:nvSpPr>
          <p:spPr>
            <a:xfrm>
              <a:off x="548640" y="3383280"/>
              <a:ext cx="8046720" cy="1005840"/>
            </a:xfrm>
            <a:prstGeom prst="rect">
              <a:avLst/>
            </a:prstGeom>
            <a:solidFill>
              <a:schemeClr val="bg1"/>
            </a:solidFill>
            <a:ln/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Text 15"/>
            <p:cNvSpPr/>
            <p:nvPr/>
          </p:nvSpPr>
          <p:spPr>
            <a:xfrm>
              <a:off x="777240" y="3429000"/>
              <a:ext cx="758952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E86F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Append-only audit trail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1A2B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Every AuditRecord: timestamp, agent, input hash, output hash, rule, QC result, approval</a:t>
              </a:r>
              <a:endParaRPr lang="en-US" sz="1300" dirty="0">
                <a:solidFill>
                  <a:srgbClr val="1A2B42"/>
                </a:solidFill>
              </a:endParaRPr>
            </a:p>
            <a:p>
              <a:pPr marL="0" indent="0">
                <a:buNone/>
              </a:pPr>
              <a:r>
                <a:rPr lang="en-US" sz="1100" dirty="0">
                  <a:solidFill>
                    <a:srgbClr val="1A2B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Export: JSON (programmatic) + HTML (presentation)  •  Aligned with 21 CFR Part 11 traceability principles</a:t>
              </a:r>
              <a:endParaRPr lang="en-US" sz="1300" dirty="0">
                <a:solidFill>
                  <a:srgbClr val="1A2B42"/>
                </a:solidFill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1E88A71C-6A8F-A353-DBA7-19D554B872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2289810"/>
            <a:ext cx="8275320" cy="1529077"/>
          </a:xfrm>
          <a:prstGeom prst="rect">
            <a:avLst/>
          </a:prstGeom>
        </p:spPr>
      </p:pic>
      <p:sp>
        <p:nvSpPr>
          <p:cNvPr id="30" name="Shape 17">
            <a:extLst>
              <a:ext uri="{FF2B5EF4-FFF2-40B4-BE49-F238E27FC236}">
                <a16:creationId xmlns:a16="http://schemas.microsoft.com/office/drawing/2014/main" id="{108340F3-BD5B-B2CD-F655-CDF985BAC752}"/>
              </a:ext>
            </a:extLst>
          </p:cNvPr>
          <p:cNvSpPr/>
          <p:nvPr/>
        </p:nvSpPr>
        <p:spPr>
          <a:xfrm>
            <a:off x="552141" y="3884749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1033172C-3B31-FD23-984C-BA7244613AE0}"/>
              </a:ext>
            </a:extLst>
          </p:cNvPr>
          <p:cNvSpPr/>
          <p:nvPr/>
        </p:nvSpPr>
        <p:spPr>
          <a:xfrm>
            <a:off x="548640" y="1097280"/>
            <a:ext cx="45719" cy="1147318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164BEC69-237F-6AE5-4C3F-9478F544FF3B}"/>
              </a:ext>
            </a:extLst>
          </p:cNvPr>
          <p:cNvSpPr/>
          <p:nvPr/>
        </p:nvSpPr>
        <p:spPr>
          <a:xfrm>
            <a:off x="3374391" y="1097280"/>
            <a:ext cx="45719" cy="1147318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4C266D46-F8A3-A22A-1FEF-0108AD6A1E4A}"/>
              </a:ext>
            </a:extLst>
          </p:cNvPr>
          <p:cNvSpPr/>
          <p:nvPr/>
        </p:nvSpPr>
        <p:spPr>
          <a:xfrm>
            <a:off x="6218557" y="1096772"/>
            <a:ext cx="45719" cy="1147318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Trade-offs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947870"/>
              </p:ext>
            </p:extLst>
          </p:nvPr>
        </p:nvGraphicFramePr>
        <p:xfrm>
          <a:off x="548640" y="1005840"/>
          <a:ext cx="8046720" cy="29260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F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F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Choice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vs.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autonomous vs. human gates everywhere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deep review gate: (per-variable approve/reject/edit + reject reason) + auto-approve on QC 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vs. rules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generation vs. deterministic engine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Hybrid: LLM generates, rules verify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Flexibility vs. compliance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Adaptable vs. locked-down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engine, different guard configs per study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vs. custom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 vs. own workflow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PydanticAI agents + custom async orchestration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exposure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data to LLM vs. no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Dual-dataset: agents see shape, not 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777240" y="42062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designed so that doing the right thing is the path of least resistance.</a:t>
            </a:r>
            <a:endParaRPr lang="en-US" sz="1400" dirty="0"/>
          </a:p>
        </p:txBody>
      </p:sp>
      <p:sp>
        <p:nvSpPr>
          <p:cNvPr id="4" name="Shape 17">
            <a:extLst>
              <a:ext uri="{FF2B5EF4-FFF2-40B4-BE49-F238E27FC236}">
                <a16:creationId xmlns:a16="http://schemas.microsoft.com/office/drawing/2014/main" id="{7600E4A1-8F36-F792-CE15-B69825386FBC}"/>
              </a:ext>
            </a:extLst>
          </p:cNvPr>
          <p:cNvSpPr/>
          <p:nvPr/>
        </p:nvSpPr>
        <p:spPr>
          <a:xfrm>
            <a:off x="548640" y="420624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Path</a:t>
            </a:r>
            <a:endParaRPr lang="en-US" sz="3600" dirty="0">
              <a:solidFill>
                <a:srgbClr val="1A2B4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tiers. Same code, same images, same SQLAlchemy models — only the surrounding infrastructure changes.</a:t>
            </a:r>
            <a:endParaRPr lang="en-US" sz="1200" dirty="0">
              <a:solidFill>
                <a:srgbClr val="1A2B42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320040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4360" y="15087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Laptop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>
              <a:solidFill>
                <a:srgbClr val="E86F33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46304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exploration</a:t>
            </a:r>
            <a:endParaRPr lang="en-US" sz="950" dirty="0">
              <a:solidFill>
                <a:srgbClr val="1A2B42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360" y="2377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>
              <a:solidFill>
                <a:srgbClr val="E86F33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146304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run </a:t>
            </a:r>
            <a:r>
              <a:rPr lang="en-US" sz="950" dirty="0" err="1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r>
              <a:rPr lang="en-US" sz="9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950" dirty="0" err="1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</a:t>
            </a:r>
            <a:r>
              <a:rPr lang="en-US" sz="9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</a:t>
            </a:r>
            <a:endParaRPr lang="en-US" sz="950" dirty="0">
              <a:solidFill>
                <a:srgbClr val="1A2B42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594360" y="2788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>
              <a:solidFill>
                <a:srgbClr val="E86F33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146304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50" dirty="0">
              <a:solidFill>
                <a:srgbClr val="1A2B42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59436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>
              <a:solidFill>
                <a:srgbClr val="E86F33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146304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or Claude Code thru proxy mailbox</a:t>
            </a:r>
            <a:endParaRPr lang="en-US" sz="950" dirty="0">
              <a:solidFill>
                <a:srgbClr val="1A2B42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594360" y="3611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>
              <a:solidFill>
                <a:srgbClr val="E86F33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1463040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user</a:t>
            </a:r>
            <a:endParaRPr lang="en-US" sz="950" dirty="0">
              <a:solidFill>
                <a:srgbClr val="1A2B42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594360" y="4023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>
              <a:solidFill>
                <a:srgbClr val="E86F33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1463040" y="4023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files</a:t>
            </a:r>
            <a:endParaRPr lang="en-US" sz="950" dirty="0">
              <a:solidFill>
                <a:srgbClr val="1A2B42"/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395980" y="1370330"/>
            <a:ext cx="2697480" cy="320040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74720" y="1508760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88620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Small-scale Prod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47472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>
              <a:solidFill>
                <a:srgbClr val="E86F33"/>
              </a:solidFill>
            </a:endParaRPr>
          </a:p>
        </p:txBody>
      </p:sp>
      <p:sp>
        <p:nvSpPr>
          <p:cNvPr id="24" name="Text 20"/>
          <p:cNvSpPr/>
          <p:nvPr/>
        </p:nvSpPr>
        <p:spPr>
          <a:xfrm>
            <a:off x="434340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team</a:t>
            </a:r>
            <a:endParaRPr lang="en-US" sz="950" dirty="0">
              <a:solidFill>
                <a:srgbClr val="1A2B42"/>
              </a:solidFill>
            </a:endParaRPr>
          </a:p>
        </p:txBody>
      </p:sp>
      <p:sp>
        <p:nvSpPr>
          <p:cNvPr id="25" name="Text 21"/>
          <p:cNvSpPr/>
          <p:nvPr/>
        </p:nvSpPr>
        <p:spPr>
          <a:xfrm>
            <a:off x="3474720" y="2377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>
              <a:solidFill>
                <a:srgbClr val="E86F33"/>
              </a:solidFill>
            </a:endParaRPr>
          </a:p>
        </p:txBody>
      </p:sp>
      <p:sp>
        <p:nvSpPr>
          <p:cNvPr id="26" name="Text 22"/>
          <p:cNvSpPr/>
          <p:nvPr/>
        </p:nvSpPr>
        <p:spPr>
          <a:xfrm>
            <a:off x="434340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950" dirty="0">
              <a:solidFill>
                <a:srgbClr val="1A2B42"/>
              </a:solidFill>
            </a:endParaRPr>
          </a:p>
        </p:txBody>
      </p:sp>
      <p:sp>
        <p:nvSpPr>
          <p:cNvPr id="27" name="Text 23"/>
          <p:cNvSpPr/>
          <p:nvPr/>
        </p:nvSpPr>
        <p:spPr>
          <a:xfrm>
            <a:off x="3474720" y="2788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>
              <a:solidFill>
                <a:srgbClr val="E86F33"/>
              </a:solidFill>
            </a:endParaRPr>
          </a:p>
        </p:txBody>
      </p:sp>
      <p:sp>
        <p:nvSpPr>
          <p:cNvPr id="28" name="Text 24"/>
          <p:cNvSpPr/>
          <p:nvPr/>
        </p:nvSpPr>
        <p:spPr>
          <a:xfrm>
            <a:off x="434340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(managed)</a:t>
            </a:r>
            <a:endParaRPr lang="en-US" sz="950" dirty="0">
              <a:solidFill>
                <a:srgbClr val="1A2B42"/>
              </a:solidFill>
            </a:endParaRPr>
          </a:p>
        </p:txBody>
      </p:sp>
      <p:sp>
        <p:nvSpPr>
          <p:cNvPr id="29" name="Text 25"/>
          <p:cNvSpPr/>
          <p:nvPr/>
        </p:nvSpPr>
        <p:spPr>
          <a:xfrm>
            <a:off x="347472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>
              <a:solidFill>
                <a:srgbClr val="E86F33"/>
              </a:solidFill>
            </a:endParaRPr>
          </a:p>
        </p:txBody>
      </p:sp>
      <p:sp>
        <p:nvSpPr>
          <p:cNvPr id="30" name="Text 26"/>
          <p:cNvSpPr/>
          <p:nvPr/>
        </p:nvSpPr>
        <p:spPr>
          <a:xfrm>
            <a:off x="434340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in VNet</a:t>
            </a:r>
            <a:endParaRPr lang="en-US" sz="950" dirty="0">
              <a:solidFill>
                <a:srgbClr val="1A2B42"/>
              </a:solidFill>
            </a:endParaRPr>
          </a:p>
        </p:txBody>
      </p:sp>
      <p:sp>
        <p:nvSpPr>
          <p:cNvPr id="31" name="Text 27"/>
          <p:cNvSpPr/>
          <p:nvPr/>
        </p:nvSpPr>
        <p:spPr>
          <a:xfrm>
            <a:off x="3474720" y="3611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>
              <a:solidFill>
                <a:srgbClr val="E86F33"/>
              </a:solidFill>
            </a:endParaRPr>
          </a:p>
        </p:txBody>
      </p:sp>
      <p:sp>
        <p:nvSpPr>
          <p:cNvPr id="32" name="Text 28"/>
          <p:cNvSpPr/>
          <p:nvPr/>
        </p:nvSpPr>
        <p:spPr>
          <a:xfrm>
            <a:off x="4343400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replicas / nginx</a:t>
            </a:r>
            <a:endParaRPr lang="en-US" sz="950" dirty="0">
              <a:solidFill>
                <a:srgbClr val="1A2B42"/>
              </a:solidFill>
            </a:endParaRPr>
          </a:p>
        </p:txBody>
      </p:sp>
      <p:sp>
        <p:nvSpPr>
          <p:cNvPr id="33" name="Text 29"/>
          <p:cNvSpPr/>
          <p:nvPr/>
        </p:nvSpPr>
        <p:spPr>
          <a:xfrm>
            <a:off x="3474720" y="4023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>
              <a:solidFill>
                <a:srgbClr val="E86F33"/>
              </a:solidFill>
            </a:endParaRPr>
          </a:p>
        </p:txBody>
      </p:sp>
      <p:sp>
        <p:nvSpPr>
          <p:cNvPr id="34" name="Text 30"/>
          <p:cNvSpPr/>
          <p:nvPr/>
        </p:nvSpPr>
        <p:spPr>
          <a:xfrm>
            <a:off x="4343400" y="4023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storage / </a:t>
            </a:r>
            <a:r>
              <a:rPr lang="en-US" sz="950" dirty="0" err="1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Datalake</a:t>
            </a:r>
            <a:endParaRPr lang="en-US" sz="950" dirty="0">
              <a:solidFill>
                <a:srgbClr val="1A2B42"/>
              </a:solidFill>
            </a:endParaRPr>
          </a:p>
        </p:txBody>
      </p:sp>
      <p:sp>
        <p:nvSpPr>
          <p:cNvPr id="35" name="Shape 31"/>
          <p:cNvSpPr/>
          <p:nvPr/>
        </p:nvSpPr>
        <p:spPr>
          <a:xfrm>
            <a:off x="6217920" y="1371600"/>
            <a:ext cx="2697480" cy="320040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55080" y="1508760"/>
            <a:ext cx="320040" cy="32004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76656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Prod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635508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>
              <a:solidFill>
                <a:srgbClr val="E86F33"/>
              </a:solidFill>
            </a:endParaRPr>
          </a:p>
        </p:txBody>
      </p:sp>
      <p:sp>
        <p:nvSpPr>
          <p:cNvPr id="39" name="Text 34"/>
          <p:cNvSpPr/>
          <p:nvPr/>
        </p:nvSpPr>
        <p:spPr>
          <a:xfrm>
            <a:off x="722376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Multi-study enterprise</a:t>
            </a:r>
            <a:endParaRPr lang="en-US" sz="950" dirty="0">
              <a:solidFill>
                <a:srgbClr val="1A2B42"/>
              </a:solidFill>
            </a:endParaRPr>
          </a:p>
        </p:txBody>
      </p:sp>
      <p:sp>
        <p:nvSpPr>
          <p:cNvPr id="40" name="Text 35"/>
          <p:cNvSpPr/>
          <p:nvPr/>
        </p:nvSpPr>
        <p:spPr>
          <a:xfrm>
            <a:off x="6355080" y="2377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>
              <a:solidFill>
                <a:srgbClr val="E86F33"/>
              </a:solidFill>
            </a:endParaRPr>
          </a:p>
        </p:txBody>
      </p:sp>
      <p:sp>
        <p:nvSpPr>
          <p:cNvPr id="41" name="Text 36"/>
          <p:cNvSpPr/>
          <p:nvPr/>
        </p:nvSpPr>
        <p:spPr>
          <a:xfrm>
            <a:off x="722376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+ Helm</a:t>
            </a:r>
            <a:endParaRPr lang="en-US" sz="950" dirty="0">
              <a:solidFill>
                <a:srgbClr val="1A2B42"/>
              </a:solidFill>
            </a:endParaRPr>
          </a:p>
        </p:txBody>
      </p:sp>
      <p:sp>
        <p:nvSpPr>
          <p:cNvPr id="42" name="Text 37"/>
          <p:cNvSpPr/>
          <p:nvPr/>
        </p:nvSpPr>
        <p:spPr>
          <a:xfrm>
            <a:off x="6355080" y="2788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>
              <a:solidFill>
                <a:srgbClr val="E86F33"/>
              </a:solidFill>
            </a:endParaRPr>
          </a:p>
        </p:txBody>
      </p:sp>
      <p:sp>
        <p:nvSpPr>
          <p:cNvPr id="43" name="Text 38"/>
          <p:cNvSpPr/>
          <p:nvPr/>
        </p:nvSpPr>
        <p:spPr>
          <a:xfrm>
            <a:off x="722376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(managed)</a:t>
            </a:r>
            <a:endParaRPr lang="en-US" sz="950" dirty="0">
              <a:solidFill>
                <a:srgbClr val="1A2B42"/>
              </a:solidFill>
            </a:endParaRPr>
          </a:p>
        </p:txBody>
      </p:sp>
      <p:sp>
        <p:nvSpPr>
          <p:cNvPr id="44" name="Text 39"/>
          <p:cNvSpPr/>
          <p:nvPr/>
        </p:nvSpPr>
        <p:spPr>
          <a:xfrm>
            <a:off x="635508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>
              <a:solidFill>
                <a:srgbClr val="E86F33"/>
              </a:solidFill>
            </a:endParaRPr>
          </a:p>
        </p:txBody>
      </p:sp>
      <p:sp>
        <p:nvSpPr>
          <p:cNvPr id="45" name="Text 40"/>
          <p:cNvSpPr/>
          <p:nvPr/>
        </p:nvSpPr>
        <p:spPr>
          <a:xfrm>
            <a:off x="722376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in VNet</a:t>
            </a:r>
            <a:endParaRPr lang="en-US" sz="950" dirty="0">
              <a:solidFill>
                <a:srgbClr val="1A2B42"/>
              </a:solidFill>
            </a:endParaRPr>
          </a:p>
        </p:txBody>
      </p:sp>
      <p:sp>
        <p:nvSpPr>
          <p:cNvPr id="46" name="Text 41"/>
          <p:cNvSpPr/>
          <p:nvPr/>
        </p:nvSpPr>
        <p:spPr>
          <a:xfrm>
            <a:off x="6355080" y="3611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>
              <a:solidFill>
                <a:srgbClr val="E86F33"/>
              </a:solidFill>
            </a:endParaRPr>
          </a:p>
        </p:txBody>
      </p:sp>
      <p:sp>
        <p:nvSpPr>
          <p:cNvPr id="47" name="Text 42"/>
          <p:cNvSpPr/>
          <p:nvPr/>
        </p:nvSpPr>
        <p:spPr>
          <a:xfrm>
            <a:off x="7223760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Auto-scaled pods</a:t>
            </a:r>
            <a:endParaRPr lang="en-US" sz="950" dirty="0">
              <a:solidFill>
                <a:srgbClr val="1A2B42"/>
              </a:solidFill>
            </a:endParaRPr>
          </a:p>
        </p:txBody>
      </p:sp>
      <p:sp>
        <p:nvSpPr>
          <p:cNvPr id="48" name="Text 43"/>
          <p:cNvSpPr/>
          <p:nvPr/>
        </p:nvSpPr>
        <p:spPr>
          <a:xfrm>
            <a:off x="6355080" y="4023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>
              <a:solidFill>
                <a:srgbClr val="E86F33"/>
              </a:solidFill>
            </a:endParaRPr>
          </a:p>
        </p:txBody>
      </p:sp>
      <p:sp>
        <p:nvSpPr>
          <p:cNvPr id="49" name="Text 44"/>
          <p:cNvSpPr/>
          <p:nvPr/>
        </p:nvSpPr>
        <p:spPr>
          <a:xfrm>
            <a:off x="7223760" y="4023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storage / </a:t>
            </a:r>
            <a:r>
              <a:rPr lang="en-US" sz="950" dirty="0" err="1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Datalake</a:t>
            </a:r>
            <a:endParaRPr lang="en-US" sz="950" dirty="0">
              <a:solidFill>
                <a:srgbClr val="1A2B42"/>
              </a:solidFill>
            </a:endParaRPr>
          </a:p>
        </p:txBody>
      </p:sp>
      <p:sp>
        <p:nvSpPr>
          <p:cNvPr id="50" name="Text 45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is stateless — all state in PostgreSQL. Horizontal scale = add replicas. Zero code changes.</a:t>
            </a:r>
            <a:endParaRPr lang="en-US" sz="1100" dirty="0">
              <a:solidFill>
                <a:srgbClr val="3A4F6A"/>
              </a:solidFill>
            </a:endParaRPr>
          </a:p>
        </p:txBody>
      </p:sp>
      <p:sp>
        <p:nvSpPr>
          <p:cNvPr id="51" name="Shape 16">
            <a:extLst>
              <a:ext uri="{FF2B5EF4-FFF2-40B4-BE49-F238E27FC236}">
                <a16:creationId xmlns:a16="http://schemas.microsoft.com/office/drawing/2014/main" id="{C2438916-6BB4-F82A-0629-545F5F156EC7}"/>
              </a:ext>
            </a:extLst>
          </p:cNvPr>
          <p:cNvSpPr/>
          <p:nvPr/>
        </p:nvSpPr>
        <p:spPr>
          <a:xfrm>
            <a:off x="442214" y="1371600"/>
            <a:ext cx="54864" cy="320040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A799E4B-7108-D16B-5A6F-CDAB22599A0C}"/>
              </a:ext>
            </a:extLst>
          </p:cNvPr>
          <p:cNvSpPr/>
          <p:nvPr/>
        </p:nvSpPr>
        <p:spPr>
          <a:xfrm>
            <a:off x="3341116" y="1370330"/>
            <a:ext cx="54864" cy="320040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3" name="Shape 16">
            <a:extLst>
              <a:ext uri="{FF2B5EF4-FFF2-40B4-BE49-F238E27FC236}">
                <a16:creationId xmlns:a16="http://schemas.microsoft.com/office/drawing/2014/main" id="{9DBDA587-44EA-98B9-4BBD-9FE3EDFB4BE7}"/>
              </a:ext>
            </a:extLst>
          </p:cNvPr>
          <p:cNvSpPr/>
          <p:nvPr/>
        </p:nvSpPr>
        <p:spPr>
          <a:xfrm>
            <a:off x="6208776" y="1370330"/>
            <a:ext cx="54864" cy="320040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Resilience &amp; Restart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77724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887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051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Checkpointing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13533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pipeline step, the interpreter persists the FSM state + ctx snapshot to workflow_states. A uvicorn reload or crash mid-run leaves a consistent, resumable record.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7"/>
          <p:cNvSpPr/>
          <p:nvPr/>
        </p:nvSpPr>
        <p:spPr>
          <a:xfrm>
            <a:off x="548640" y="1965960"/>
            <a:ext cx="54864" cy="77724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1488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011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in the Audit Trail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234440" y="23134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except branch appends a workflow_failed record with the error, exception type, and failing step. The UI audit tab tells you why a run aborted.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9260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1"/>
          <p:cNvSpPr/>
          <p:nvPr/>
        </p:nvSpPr>
        <p:spPr>
          <a:xfrm>
            <a:off x="548640" y="2926080"/>
            <a:ext cx="54864" cy="77724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1089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971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Restart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34440" y="32735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/workflows/{id}/rerun starts a new run with the same spec, then atomically deletes the old one — DB row, in-memory state, output files — only after the new run has launched.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5"/>
          <p:cNvSpPr/>
          <p:nvPr/>
        </p:nvSpPr>
        <p:spPr>
          <a:xfrm>
            <a:off x="548640" y="3886200"/>
            <a:ext cx="54864" cy="77724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0690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931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Runs Stay Visible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234440" y="42336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list_workflow_ids reads from _interpreters so failures don't vanish from the dashboard the moment the async task completes.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</a:t>
            </a:r>
            <a:endParaRPr lang="en-US" sz="3600" dirty="0">
              <a:solidFill>
                <a:srgbClr val="1A2B4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109728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6F33"/>
                </a:solidFill>
                <a:latin typeface="Georgia" pitchFamily="34" charset="0"/>
              </a:rPr>
              <a:t>329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920240" cy="109728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260604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E86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60604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 coverage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1920240" cy="109728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475488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6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5488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Pyright errors (strict)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903720" y="1097280"/>
            <a:ext cx="1920240" cy="109728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90372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6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90372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violations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1920240" cy="109728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5720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6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19/19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Import-linter contracts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606040" y="2560320"/>
            <a:ext cx="1920240" cy="109728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260604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6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2606040" y="3200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pre-commit checks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1A2B42"/>
                </a:solidFill>
              </a:rPr>
              <a:t>18/18 pre-push hooks gree</a:t>
            </a: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54880" y="2560320"/>
            <a:ext cx="1920240" cy="109728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475488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6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754880" y="3200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code (vulture)</a:t>
            </a:r>
            <a:endParaRPr lang="en-US" sz="1100" dirty="0">
              <a:solidFill>
                <a:srgbClr val="1A2B42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custom AST checks: domain purity, patient data leak detection, datetime safety, enum discipline, LLM gateway enforcement, file/function length, no SQL in engine, no UI exceptions in lower layers, repo DI enforcement</a:t>
            </a:r>
            <a:endParaRPr lang="en-US" sz="1050" dirty="0">
              <a:solidFill>
                <a:srgbClr val="1A2B42"/>
              </a:solidFill>
            </a:endParaRPr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213FD048-5669-73D9-4F81-566D5A9BE848}"/>
              </a:ext>
            </a:extLst>
          </p:cNvPr>
          <p:cNvSpPr/>
          <p:nvPr/>
        </p:nvSpPr>
        <p:spPr>
          <a:xfrm>
            <a:off x="457200" y="1097280"/>
            <a:ext cx="45719" cy="109728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8E038E89-905B-4A51-FB5A-61F8C20A7C11}"/>
              </a:ext>
            </a:extLst>
          </p:cNvPr>
          <p:cNvSpPr/>
          <p:nvPr/>
        </p:nvSpPr>
        <p:spPr>
          <a:xfrm>
            <a:off x="2606040" y="1101090"/>
            <a:ext cx="45719" cy="109728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8825A397-D76B-2B53-8733-801C9A49B635}"/>
              </a:ext>
            </a:extLst>
          </p:cNvPr>
          <p:cNvSpPr/>
          <p:nvPr/>
        </p:nvSpPr>
        <p:spPr>
          <a:xfrm>
            <a:off x="4754880" y="1096010"/>
            <a:ext cx="45719" cy="109728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CDC1864E-0599-A060-C65E-1EAE6435DC25}"/>
              </a:ext>
            </a:extLst>
          </p:cNvPr>
          <p:cNvSpPr/>
          <p:nvPr/>
        </p:nvSpPr>
        <p:spPr>
          <a:xfrm>
            <a:off x="6903720" y="1101090"/>
            <a:ext cx="45719" cy="109728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9491BE6A-1303-4E61-3E9B-A8195ED66A1A}"/>
              </a:ext>
            </a:extLst>
          </p:cNvPr>
          <p:cNvSpPr/>
          <p:nvPr/>
        </p:nvSpPr>
        <p:spPr>
          <a:xfrm>
            <a:off x="443230" y="2559050"/>
            <a:ext cx="45719" cy="109728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A5D13E70-B588-D987-D424-4EABACB5F0B7}"/>
              </a:ext>
            </a:extLst>
          </p:cNvPr>
          <p:cNvSpPr/>
          <p:nvPr/>
        </p:nvSpPr>
        <p:spPr>
          <a:xfrm>
            <a:off x="2595879" y="2560320"/>
            <a:ext cx="45719" cy="109728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1A4F85CA-1B77-32A5-8356-A2F3DDA79340}"/>
              </a:ext>
            </a:extLst>
          </p:cNvPr>
          <p:cNvSpPr/>
          <p:nvPr/>
        </p:nvSpPr>
        <p:spPr>
          <a:xfrm>
            <a:off x="4753609" y="2557780"/>
            <a:ext cx="45719" cy="1097280"/>
          </a:xfrm>
          <a:prstGeom prst="rect">
            <a:avLst/>
          </a:prstGeom>
          <a:solidFill>
            <a:srgbClr val="E86F33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2698</TotalTime>
  <Words>1775</Words>
  <Application>Microsoft Office PowerPoint</Application>
  <PresentationFormat>On-screen Show (16:9)</PresentationFormat>
  <Paragraphs>378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Data Derivation Engine</dc:title>
  <dc:subject>PptxGenJS Presentation</dc:subject>
  <dc:creator>Matthieu Boujonnier</dc:creator>
  <cp:lastModifiedBy>Matthieu Boujonnier</cp:lastModifiedBy>
  <cp:revision>85</cp:revision>
  <dcterms:created xsi:type="dcterms:W3CDTF">2026-04-12T22:38:38Z</dcterms:created>
  <dcterms:modified xsi:type="dcterms:W3CDTF">2026-04-15T13:17:23Z</dcterms:modified>
</cp:coreProperties>
</file>